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4" r:id="rId7"/>
    <p:sldId id="266" r:id="rId8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1886585"/>
            <a:ext cx="4547235" cy="3427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78525" y="1886585"/>
            <a:ext cx="4543425" cy="3427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8E8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663575"/>
            <a:ext cx="10255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1968500"/>
            <a:ext cx="5337809" cy="164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C0D0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873625" y="1968500"/>
            <a:ext cx="5337809" cy="10771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105400"/>
              </a:lnSpc>
              <a:spcBef>
                <a:spcPts val="130"/>
              </a:spcBef>
            </a:pPr>
            <a:r>
              <a:rPr lang="en-MY" spc="-100" dirty="0"/>
              <a:t>THE </a:t>
            </a:r>
            <a:r>
              <a:rPr spc="-100" dirty="0"/>
              <a:t>SUCCESS</a:t>
            </a:r>
            <a:r>
              <a:rPr spc="-459" dirty="0"/>
              <a:t> </a:t>
            </a:r>
            <a:r>
              <a:rPr spc="-10" dirty="0"/>
              <a:t>STORY</a:t>
            </a:r>
            <a:r>
              <a:rPr lang="en-MY" spc="-10" dirty="0"/>
              <a:t> OF GRAB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873625" y="3527425"/>
            <a:ext cx="5794375" cy="200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34300"/>
              </a:lnSpc>
              <a:spcBef>
                <a:spcPts val="100"/>
              </a:spcBef>
            </a:pPr>
            <a:r>
              <a:rPr lang="en-MY" sz="2400" b="1" dirty="0">
                <a:latin typeface="Roboto Th"/>
                <a:cs typeface="Roboto Th"/>
              </a:rPr>
              <a:t>Member Name:</a:t>
            </a:r>
          </a:p>
          <a:p>
            <a:pPr marL="12700" marR="5080" algn="ctr">
              <a:lnSpc>
                <a:spcPct val="134300"/>
              </a:lnSpc>
              <a:spcBef>
                <a:spcPts val="100"/>
              </a:spcBef>
            </a:pPr>
            <a:r>
              <a:rPr lang="en-MY" dirty="0">
                <a:latin typeface="Roboto Th"/>
                <a:cs typeface="Roboto Th"/>
              </a:rPr>
              <a:t>Iven Nyam Jia Yang</a:t>
            </a:r>
          </a:p>
          <a:p>
            <a:pPr marL="12700" marR="5080" algn="ctr">
              <a:lnSpc>
                <a:spcPct val="134300"/>
              </a:lnSpc>
              <a:spcBef>
                <a:spcPts val="100"/>
              </a:spcBef>
            </a:pPr>
            <a:r>
              <a:rPr lang="en-MY" dirty="0">
                <a:latin typeface="Roboto Th"/>
                <a:cs typeface="Roboto Th"/>
              </a:rPr>
              <a:t>Chan Yu Heng</a:t>
            </a:r>
          </a:p>
          <a:p>
            <a:pPr marL="12700" marR="5080" algn="ctr">
              <a:lnSpc>
                <a:spcPct val="134300"/>
              </a:lnSpc>
              <a:spcBef>
                <a:spcPts val="100"/>
              </a:spcBef>
            </a:pPr>
            <a:r>
              <a:rPr lang="en-MY" dirty="0">
                <a:latin typeface="Roboto Th"/>
                <a:cs typeface="Roboto Th"/>
              </a:rPr>
              <a:t>Lai Zhen Hong</a:t>
            </a:r>
          </a:p>
          <a:p>
            <a:pPr marL="12700" marR="5080" algn="ctr">
              <a:lnSpc>
                <a:spcPct val="134300"/>
              </a:lnSpc>
              <a:spcBef>
                <a:spcPts val="100"/>
              </a:spcBef>
            </a:pPr>
            <a:r>
              <a:rPr lang="en-MY" dirty="0">
                <a:latin typeface="Roboto Th"/>
                <a:cs typeface="Roboto Th"/>
              </a:rPr>
              <a:t>Ong Khang </a:t>
            </a:r>
            <a:r>
              <a:rPr lang="en-MY" dirty="0" err="1">
                <a:latin typeface="Roboto Th"/>
                <a:cs typeface="Roboto Th"/>
              </a:rPr>
              <a:t>Chean</a:t>
            </a:r>
            <a:endParaRPr dirty="0">
              <a:latin typeface="Roboto Th"/>
              <a:cs typeface="Roboto Th"/>
            </a:endParaRPr>
          </a:p>
        </p:txBody>
      </p:sp>
      <p:pic>
        <p:nvPicPr>
          <p:cNvPr id="5" name="Picture 2" descr="Grab Vector Logo - Download Free SVG Icon | Worldvectorlogo">
            <a:extLst>
              <a:ext uri="{FF2B5EF4-FFF2-40B4-BE49-F238E27FC236}">
                <a16:creationId xmlns:a16="http://schemas.microsoft.com/office/drawing/2014/main" id="{E5F977A8-71DF-105E-57FF-F707B670F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2607" y="2869057"/>
            <a:ext cx="701035" cy="70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892175"/>
            <a:ext cx="4142104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135" dirty="0"/>
              <a:t>THE</a:t>
            </a:r>
            <a:r>
              <a:rPr spc="-465" dirty="0"/>
              <a:t> </a:t>
            </a:r>
            <a:r>
              <a:rPr spc="-125" dirty="0"/>
              <a:t>SUPER-</a:t>
            </a:r>
            <a:r>
              <a:rPr spc="-25" dirty="0"/>
              <a:t>APP </a:t>
            </a:r>
            <a:r>
              <a:rPr spc="-35" dirty="0"/>
              <a:t>BUSINESS</a:t>
            </a:r>
            <a:r>
              <a:rPr spc="-459" dirty="0"/>
              <a:t> </a:t>
            </a:r>
            <a:r>
              <a:rPr spc="-85" dirty="0"/>
              <a:t>MODEL</a:t>
            </a:r>
          </a:p>
        </p:txBody>
      </p:sp>
      <p:sp>
        <p:nvSpPr>
          <p:cNvPr id="4" name="object 4"/>
          <p:cNvSpPr/>
          <p:nvPr/>
        </p:nvSpPr>
        <p:spPr>
          <a:xfrm>
            <a:off x="4886325" y="2266949"/>
            <a:ext cx="2886075" cy="1800225"/>
          </a:xfrm>
          <a:custGeom>
            <a:avLst/>
            <a:gdLst/>
            <a:ahLst/>
            <a:cxnLst/>
            <a:rect l="l" t="t" r="r" b="b"/>
            <a:pathLst>
              <a:path w="2886075" h="180022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778800"/>
                </a:lnTo>
                <a:lnTo>
                  <a:pt x="0" y="1781632"/>
                </a:lnTo>
                <a:lnTo>
                  <a:pt x="18592" y="1800225"/>
                </a:lnTo>
                <a:lnTo>
                  <a:pt x="2867482" y="1800225"/>
                </a:lnTo>
                <a:lnTo>
                  <a:pt x="2886075" y="17816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D7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45075" y="2430462"/>
            <a:ext cx="2350770" cy="14268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54659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latin typeface="Arial Black"/>
                <a:cs typeface="Arial Black"/>
              </a:rPr>
              <a:t>MULTI-</a:t>
            </a:r>
            <a:r>
              <a:rPr sz="1650" spc="-10" dirty="0">
                <a:latin typeface="Arial Black"/>
                <a:cs typeface="Arial Black"/>
              </a:rPr>
              <a:t>SERVICE PLATFORM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sz="1350" spc="-45" dirty="0">
                <a:latin typeface="Roboto Th"/>
                <a:cs typeface="Roboto Th"/>
              </a:rPr>
              <a:t>Single</a:t>
            </a:r>
            <a:r>
              <a:rPr sz="1350" spc="-15" dirty="0">
                <a:latin typeface="Roboto Th"/>
                <a:cs typeface="Roboto Th"/>
              </a:rPr>
              <a:t> </a:t>
            </a:r>
            <a:r>
              <a:rPr sz="1350" spc="-80" dirty="0">
                <a:latin typeface="Roboto Th"/>
                <a:cs typeface="Roboto Th"/>
              </a:rPr>
              <a:t>app</a:t>
            </a:r>
            <a:r>
              <a:rPr sz="1350" spc="-15" dirty="0">
                <a:latin typeface="Roboto Th"/>
                <a:cs typeface="Roboto Th"/>
              </a:rPr>
              <a:t> </a:t>
            </a:r>
            <a:r>
              <a:rPr sz="1350" spc="-20" dirty="0">
                <a:latin typeface="Roboto Th"/>
                <a:cs typeface="Roboto Th"/>
              </a:rPr>
              <a:t>for</a:t>
            </a:r>
            <a:r>
              <a:rPr sz="1350" spc="-10" dirty="0">
                <a:latin typeface="Roboto Th"/>
                <a:cs typeface="Roboto Th"/>
              </a:rPr>
              <a:t> </a:t>
            </a:r>
            <a:r>
              <a:rPr sz="1350" spc="-45" dirty="0">
                <a:latin typeface="Roboto Th"/>
                <a:cs typeface="Roboto Th"/>
              </a:rPr>
              <a:t>transportation,</a:t>
            </a:r>
            <a:r>
              <a:rPr sz="1350" spc="-15" dirty="0">
                <a:latin typeface="Roboto Th"/>
                <a:cs typeface="Roboto Th"/>
              </a:rPr>
              <a:t> </a:t>
            </a:r>
            <a:r>
              <a:rPr sz="1350" spc="-40" dirty="0">
                <a:latin typeface="Roboto Th"/>
                <a:cs typeface="Roboto Th"/>
              </a:rPr>
              <a:t>food </a:t>
            </a:r>
            <a:r>
              <a:rPr sz="1350" spc="-45" dirty="0">
                <a:latin typeface="Roboto Th"/>
                <a:cs typeface="Roboto Th"/>
              </a:rPr>
              <a:t>delivery,</a:t>
            </a:r>
            <a:r>
              <a:rPr sz="1350" spc="-5" dirty="0">
                <a:latin typeface="Roboto Th"/>
                <a:cs typeface="Roboto Th"/>
              </a:rPr>
              <a:t> </a:t>
            </a:r>
            <a:r>
              <a:rPr sz="1350" spc="-75" dirty="0">
                <a:latin typeface="Roboto Th"/>
                <a:cs typeface="Roboto Th"/>
              </a:rPr>
              <a:t>payments,</a:t>
            </a:r>
            <a:r>
              <a:rPr sz="1350" dirty="0">
                <a:latin typeface="Roboto Th"/>
                <a:cs typeface="Roboto Th"/>
              </a:rPr>
              <a:t> </a:t>
            </a:r>
            <a:r>
              <a:rPr sz="1350" spc="-80" dirty="0">
                <a:latin typeface="Roboto Th"/>
                <a:cs typeface="Roboto Th"/>
              </a:rPr>
              <a:t>and</a:t>
            </a:r>
            <a:r>
              <a:rPr sz="1350" dirty="0">
                <a:latin typeface="Roboto Th"/>
                <a:cs typeface="Roboto Th"/>
              </a:rPr>
              <a:t> </a:t>
            </a:r>
            <a:r>
              <a:rPr sz="1350" spc="-10" dirty="0">
                <a:latin typeface="Roboto Th"/>
                <a:cs typeface="Roboto Th"/>
              </a:rPr>
              <a:t>financial </a:t>
            </a:r>
            <a:r>
              <a:rPr sz="1350" spc="-50" dirty="0">
                <a:latin typeface="Roboto Th"/>
                <a:cs typeface="Roboto Th"/>
              </a:rPr>
              <a:t>services</a:t>
            </a:r>
            <a:r>
              <a:rPr sz="1350" spc="25" dirty="0">
                <a:latin typeface="Roboto Th"/>
                <a:cs typeface="Roboto Th"/>
              </a:rPr>
              <a:t> </a:t>
            </a:r>
            <a:r>
              <a:rPr sz="1350" spc="-75" dirty="0">
                <a:latin typeface="Roboto Th"/>
                <a:cs typeface="Roboto Th"/>
              </a:rPr>
              <a:t>across</a:t>
            </a:r>
            <a:r>
              <a:rPr sz="1350" spc="25" dirty="0">
                <a:latin typeface="Roboto Th"/>
                <a:cs typeface="Roboto Th"/>
              </a:rPr>
              <a:t> </a:t>
            </a:r>
            <a:r>
              <a:rPr sz="1350" spc="-75" dirty="0">
                <a:latin typeface="Roboto Th"/>
                <a:cs typeface="Roboto Th"/>
              </a:rPr>
              <a:t>Southeast</a:t>
            </a:r>
            <a:r>
              <a:rPr sz="1350" spc="25" dirty="0">
                <a:latin typeface="Roboto Th"/>
                <a:cs typeface="Roboto Th"/>
              </a:rPr>
              <a:t> </a:t>
            </a:r>
            <a:r>
              <a:rPr sz="1350" spc="-20" dirty="0">
                <a:latin typeface="Roboto Th"/>
                <a:cs typeface="Roboto Th"/>
              </a:rPr>
              <a:t>Asia</a:t>
            </a:r>
            <a:endParaRPr sz="1350">
              <a:latin typeface="Roboto Th"/>
              <a:cs typeface="Roboto 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3850" y="2266949"/>
            <a:ext cx="2886075" cy="1800225"/>
          </a:xfrm>
          <a:custGeom>
            <a:avLst/>
            <a:gdLst/>
            <a:ahLst/>
            <a:cxnLst/>
            <a:rect l="l" t="t" r="r" b="b"/>
            <a:pathLst>
              <a:path w="2886075" h="180022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778800"/>
                </a:lnTo>
                <a:lnTo>
                  <a:pt x="0" y="1781632"/>
                </a:lnTo>
                <a:lnTo>
                  <a:pt x="18592" y="1800225"/>
                </a:lnTo>
                <a:lnTo>
                  <a:pt x="2867482" y="1800225"/>
                </a:lnTo>
                <a:lnTo>
                  <a:pt x="2886075" y="17816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D7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02600" y="2430462"/>
            <a:ext cx="2538095" cy="1160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30" dirty="0">
                <a:latin typeface="Arial Black"/>
                <a:cs typeface="Arial Black"/>
              </a:rPr>
              <a:t>NETWORK</a:t>
            </a:r>
            <a:r>
              <a:rPr sz="1650" spc="-215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EFFECTS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sz="1350" spc="-85" dirty="0">
                <a:latin typeface="Roboto Th"/>
                <a:cs typeface="Roboto Th"/>
              </a:rPr>
              <a:t>Each</a:t>
            </a:r>
            <a:r>
              <a:rPr sz="1350" spc="-5" dirty="0">
                <a:latin typeface="Roboto Th"/>
                <a:cs typeface="Roboto Th"/>
              </a:rPr>
              <a:t> </a:t>
            </a:r>
            <a:r>
              <a:rPr sz="1350" spc="-45" dirty="0">
                <a:latin typeface="Roboto Th"/>
                <a:cs typeface="Roboto Th"/>
              </a:rPr>
              <a:t>service</a:t>
            </a:r>
            <a:r>
              <a:rPr sz="1350" dirty="0">
                <a:latin typeface="Roboto Th"/>
                <a:cs typeface="Roboto Th"/>
              </a:rPr>
              <a:t> </a:t>
            </a:r>
            <a:r>
              <a:rPr sz="1350" spc="-65" dirty="0">
                <a:latin typeface="Roboto Th"/>
                <a:cs typeface="Roboto Th"/>
              </a:rPr>
              <a:t>strengthens</a:t>
            </a:r>
            <a:r>
              <a:rPr sz="1350" dirty="0">
                <a:latin typeface="Roboto Th"/>
                <a:cs typeface="Roboto Th"/>
              </a:rPr>
              <a:t> </a:t>
            </a:r>
            <a:r>
              <a:rPr sz="1350" spc="-65" dirty="0">
                <a:latin typeface="Roboto Th"/>
                <a:cs typeface="Roboto Th"/>
              </a:rPr>
              <a:t>others</a:t>
            </a:r>
            <a:r>
              <a:rPr sz="1350" dirty="0">
                <a:latin typeface="Roboto Th"/>
                <a:cs typeface="Roboto Th"/>
              </a:rPr>
              <a:t> </a:t>
            </a:r>
            <a:r>
              <a:rPr sz="1350" spc="-50" dirty="0">
                <a:latin typeface="Roboto Th"/>
                <a:cs typeface="Roboto Th"/>
              </a:rPr>
              <a:t>- </a:t>
            </a:r>
            <a:r>
              <a:rPr sz="1350" spc="-45" dirty="0">
                <a:latin typeface="Roboto Th"/>
                <a:cs typeface="Roboto Th"/>
              </a:rPr>
              <a:t>drivers</a:t>
            </a:r>
            <a:r>
              <a:rPr sz="1350" spc="-15" dirty="0">
                <a:latin typeface="Roboto Th"/>
                <a:cs typeface="Roboto Th"/>
              </a:rPr>
              <a:t> </a:t>
            </a:r>
            <a:r>
              <a:rPr sz="1350" spc="-65" dirty="0">
                <a:latin typeface="Roboto Th"/>
                <a:cs typeface="Roboto Th"/>
              </a:rPr>
              <a:t>serve</a:t>
            </a:r>
            <a:r>
              <a:rPr sz="1350" spc="-10" dirty="0">
                <a:latin typeface="Roboto Th"/>
                <a:cs typeface="Roboto Th"/>
              </a:rPr>
              <a:t> </a:t>
            </a:r>
            <a:r>
              <a:rPr sz="1350" spc="-40" dirty="0">
                <a:latin typeface="Roboto Th"/>
                <a:cs typeface="Roboto Th"/>
              </a:rPr>
              <a:t>multiple</a:t>
            </a:r>
            <a:r>
              <a:rPr sz="1350" spc="-10" dirty="0">
                <a:latin typeface="Roboto Th"/>
                <a:cs typeface="Roboto Th"/>
              </a:rPr>
              <a:t> </a:t>
            </a:r>
            <a:r>
              <a:rPr sz="1350" spc="-30" dirty="0">
                <a:latin typeface="Roboto Th"/>
                <a:cs typeface="Roboto Th"/>
              </a:rPr>
              <a:t>verticals,</a:t>
            </a:r>
            <a:r>
              <a:rPr sz="1350" spc="-10" dirty="0">
                <a:latin typeface="Roboto Th"/>
                <a:cs typeface="Roboto Th"/>
              </a:rPr>
              <a:t> </a:t>
            </a:r>
            <a:r>
              <a:rPr sz="1350" spc="-55" dirty="0">
                <a:latin typeface="Roboto Th"/>
                <a:cs typeface="Roboto Th"/>
              </a:rPr>
              <a:t>users </a:t>
            </a:r>
            <a:r>
              <a:rPr sz="1350" spc="-80" dirty="0">
                <a:latin typeface="Roboto Th"/>
                <a:cs typeface="Roboto Th"/>
              </a:rPr>
              <a:t>engage</a:t>
            </a:r>
            <a:r>
              <a:rPr sz="1350" spc="25" dirty="0">
                <a:latin typeface="Roboto Th"/>
                <a:cs typeface="Roboto Th"/>
              </a:rPr>
              <a:t> </a:t>
            </a:r>
            <a:r>
              <a:rPr sz="1350" spc="-105" dirty="0">
                <a:latin typeface="Roboto Th"/>
                <a:cs typeface="Roboto Th"/>
              </a:rPr>
              <a:t>more</a:t>
            </a:r>
            <a:r>
              <a:rPr sz="1350" spc="30" dirty="0">
                <a:latin typeface="Roboto Th"/>
                <a:cs typeface="Roboto Th"/>
              </a:rPr>
              <a:t> </a:t>
            </a:r>
            <a:r>
              <a:rPr sz="1350" spc="-10" dirty="0">
                <a:latin typeface="Roboto Th"/>
                <a:cs typeface="Roboto Th"/>
              </a:rPr>
              <a:t>frequently</a:t>
            </a:r>
            <a:endParaRPr sz="1350">
              <a:latin typeface="Roboto Th"/>
              <a:cs typeface="Roboto 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6325" y="4238625"/>
            <a:ext cx="5943600" cy="1266825"/>
          </a:xfrm>
          <a:custGeom>
            <a:avLst/>
            <a:gdLst/>
            <a:ahLst/>
            <a:cxnLst/>
            <a:rect l="l" t="t" r="r" b="b"/>
            <a:pathLst>
              <a:path w="5943600" h="1266825">
                <a:moveTo>
                  <a:pt x="59250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45395"/>
                </a:lnTo>
                <a:lnTo>
                  <a:pt x="0" y="1248232"/>
                </a:lnTo>
                <a:lnTo>
                  <a:pt x="18592" y="1266821"/>
                </a:lnTo>
                <a:lnTo>
                  <a:pt x="5925007" y="1266821"/>
                </a:lnTo>
                <a:lnTo>
                  <a:pt x="5943600" y="124823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D7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45075" y="4402137"/>
            <a:ext cx="521843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5" dirty="0">
                <a:latin typeface="Arial Black"/>
                <a:cs typeface="Arial Black"/>
              </a:rPr>
              <a:t>DATA</a:t>
            </a:r>
            <a:r>
              <a:rPr sz="1650" spc="-220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MONETIZATION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80" dirty="0">
                <a:latin typeface="Roboto Th"/>
                <a:cs typeface="Roboto Th"/>
              </a:rPr>
              <a:t>User</a:t>
            </a:r>
            <a:r>
              <a:rPr sz="1350" spc="10" dirty="0">
                <a:latin typeface="Roboto Th"/>
                <a:cs typeface="Roboto Th"/>
              </a:rPr>
              <a:t> </a:t>
            </a:r>
            <a:r>
              <a:rPr sz="1350" spc="-55" dirty="0">
                <a:latin typeface="Roboto Th"/>
                <a:cs typeface="Roboto Th"/>
              </a:rPr>
              <a:t>behavior</a:t>
            </a:r>
            <a:r>
              <a:rPr sz="1350" spc="15" dirty="0">
                <a:latin typeface="Roboto Th"/>
                <a:cs typeface="Roboto Th"/>
              </a:rPr>
              <a:t> </a:t>
            </a:r>
            <a:r>
              <a:rPr sz="1350" spc="-45" dirty="0">
                <a:latin typeface="Roboto Th"/>
                <a:cs typeface="Roboto Th"/>
              </a:rPr>
              <a:t>insights</a:t>
            </a:r>
            <a:r>
              <a:rPr sz="1350" spc="10" dirty="0">
                <a:latin typeface="Roboto Th"/>
                <a:cs typeface="Roboto Th"/>
              </a:rPr>
              <a:t> </a:t>
            </a:r>
            <a:r>
              <a:rPr sz="1350" spc="-45" dirty="0">
                <a:latin typeface="Roboto Th"/>
                <a:cs typeface="Roboto Th"/>
              </a:rPr>
              <a:t>drive</a:t>
            </a:r>
            <a:r>
              <a:rPr sz="1350" spc="15" dirty="0">
                <a:latin typeface="Roboto Th"/>
                <a:cs typeface="Roboto Th"/>
              </a:rPr>
              <a:t> </a:t>
            </a:r>
            <a:r>
              <a:rPr sz="1350" spc="-65" dirty="0">
                <a:latin typeface="Roboto Th"/>
                <a:cs typeface="Roboto Th"/>
              </a:rPr>
              <a:t>targeted</a:t>
            </a:r>
            <a:r>
              <a:rPr sz="1350" spc="15" dirty="0">
                <a:latin typeface="Roboto Th"/>
                <a:cs typeface="Roboto Th"/>
              </a:rPr>
              <a:t> </a:t>
            </a:r>
            <a:r>
              <a:rPr sz="1350" spc="-40" dirty="0">
                <a:latin typeface="Roboto Th"/>
                <a:cs typeface="Roboto Th"/>
              </a:rPr>
              <a:t>advertising,</a:t>
            </a:r>
            <a:r>
              <a:rPr sz="1350" spc="10" dirty="0">
                <a:latin typeface="Roboto Th"/>
                <a:cs typeface="Roboto Th"/>
              </a:rPr>
              <a:t> </a:t>
            </a:r>
            <a:r>
              <a:rPr sz="1350" spc="-90" dirty="0">
                <a:latin typeface="Roboto Th"/>
                <a:cs typeface="Roboto Th"/>
              </a:rPr>
              <a:t>merchant</a:t>
            </a:r>
            <a:r>
              <a:rPr sz="1350" spc="15" dirty="0">
                <a:latin typeface="Roboto Th"/>
                <a:cs typeface="Roboto Th"/>
              </a:rPr>
              <a:t> </a:t>
            </a:r>
            <a:r>
              <a:rPr sz="1350" spc="-50" dirty="0">
                <a:latin typeface="Roboto Th"/>
                <a:cs typeface="Roboto Th"/>
              </a:rPr>
              <a:t>partnerships,</a:t>
            </a:r>
            <a:r>
              <a:rPr sz="1350" spc="15" dirty="0">
                <a:latin typeface="Roboto Th"/>
                <a:cs typeface="Roboto Th"/>
              </a:rPr>
              <a:t> </a:t>
            </a:r>
            <a:r>
              <a:rPr sz="1350" spc="-25" dirty="0">
                <a:latin typeface="Roboto Th"/>
                <a:cs typeface="Roboto Th"/>
              </a:rPr>
              <a:t>and </a:t>
            </a:r>
            <a:r>
              <a:rPr sz="1350" spc="-45" dirty="0">
                <a:latin typeface="Roboto Th"/>
                <a:cs typeface="Roboto Th"/>
              </a:rPr>
              <a:t>service</a:t>
            </a:r>
            <a:r>
              <a:rPr sz="1350" spc="-15" dirty="0">
                <a:latin typeface="Roboto Th"/>
                <a:cs typeface="Roboto Th"/>
              </a:rPr>
              <a:t> </a:t>
            </a:r>
            <a:r>
              <a:rPr sz="1350" spc="-10" dirty="0">
                <a:latin typeface="Roboto Th"/>
                <a:cs typeface="Roboto Th"/>
              </a:rPr>
              <a:t>optimization</a:t>
            </a:r>
            <a:endParaRPr sz="1350">
              <a:latin typeface="Roboto Th"/>
              <a:cs typeface="Roboto 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TECHNOLOGY-</a:t>
            </a:r>
            <a:r>
              <a:rPr spc="70" dirty="0"/>
              <a:t>DRIVEN</a:t>
            </a:r>
            <a:r>
              <a:rPr spc="-470" dirty="0"/>
              <a:t> </a:t>
            </a:r>
            <a:r>
              <a:rPr spc="120" dirty="0"/>
              <a:t>RAPID</a:t>
            </a:r>
            <a:r>
              <a:rPr spc="-470" dirty="0"/>
              <a:t> </a:t>
            </a:r>
            <a:r>
              <a:rPr spc="-10" dirty="0"/>
              <a:t>GROWTH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114549"/>
            <a:ext cx="857250" cy="3086100"/>
            <a:chOff x="600075" y="2114549"/>
            <a:chExt cx="857250" cy="3086100"/>
          </a:xfrm>
        </p:grpSpPr>
        <p:sp>
          <p:nvSpPr>
            <p:cNvPr id="4" name="object 4"/>
            <p:cNvSpPr/>
            <p:nvPr/>
          </p:nvSpPr>
          <p:spPr>
            <a:xfrm>
              <a:off x="600075" y="21145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4875" y="2505074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88403" y="225031"/>
                  </a:moveTo>
                  <a:lnTo>
                    <a:pt x="72330" y="225031"/>
                  </a:lnTo>
                  <a:lnTo>
                    <a:pt x="72330" y="253555"/>
                  </a:lnTo>
                  <a:lnTo>
                    <a:pt x="75947" y="257175"/>
                  </a:lnTo>
                  <a:lnTo>
                    <a:pt x="84787" y="257175"/>
                  </a:lnTo>
                  <a:lnTo>
                    <a:pt x="88403" y="253555"/>
                  </a:lnTo>
                  <a:lnTo>
                    <a:pt x="88403" y="225031"/>
                  </a:lnTo>
                  <a:close/>
                </a:path>
                <a:path w="257175" h="257175">
                  <a:moveTo>
                    <a:pt x="136624" y="225031"/>
                  </a:moveTo>
                  <a:lnTo>
                    <a:pt x="120550" y="225031"/>
                  </a:lnTo>
                  <a:lnTo>
                    <a:pt x="120550" y="253555"/>
                  </a:lnTo>
                  <a:lnTo>
                    <a:pt x="124167" y="257175"/>
                  </a:lnTo>
                  <a:lnTo>
                    <a:pt x="133007" y="257175"/>
                  </a:lnTo>
                  <a:lnTo>
                    <a:pt x="136624" y="253555"/>
                  </a:lnTo>
                  <a:lnTo>
                    <a:pt x="136624" y="225031"/>
                  </a:lnTo>
                  <a:close/>
                </a:path>
                <a:path w="257175" h="257175">
                  <a:moveTo>
                    <a:pt x="184844" y="225031"/>
                  </a:moveTo>
                  <a:lnTo>
                    <a:pt x="168771" y="225031"/>
                  </a:lnTo>
                  <a:lnTo>
                    <a:pt x="168771" y="253555"/>
                  </a:lnTo>
                  <a:lnTo>
                    <a:pt x="172387" y="257175"/>
                  </a:lnTo>
                  <a:lnTo>
                    <a:pt x="181227" y="257175"/>
                  </a:lnTo>
                  <a:lnTo>
                    <a:pt x="184844" y="253555"/>
                  </a:lnTo>
                  <a:lnTo>
                    <a:pt x="184844" y="225031"/>
                  </a:lnTo>
                  <a:close/>
                </a:path>
                <a:path w="257175" h="257175">
                  <a:moveTo>
                    <a:pt x="192881" y="32143"/>
                  </a:moveTo>
                  <a:lnTo>
                    <a:pt x="64293" y="32143"/>
                  </a:lnTo>
                  <a:lnTo>
                    <a:pt x="51790" y="34673"/>
                  </a:lnTo>
                  <a:lnTo>
                    <a:pt x="41571" y="41568"/>
                  </a:lnTo>
                  <a:lnTo>
                    <a:pt x="34677" y="51790"/>
                  </a:lnTo>
                  <a:lnTo>
                    <a:pt x="32147" y="64300"/>
                  </a:lnTo>
                  <a:lnTo>
                    <a:pt x="32147" y="72326"/>
                  </a:lnTo>
                  <a:lnTo>
                    <a:pt x="3616" y="72326"/>
                  </a:lnTo>
                  <a:lnTo>
                    <a:pt x="0" y="75946"/>
                  </a:lnTo>
                  <a:lnTo>
                    <a:pt x="0" y="84785"/>
                  </a:lnTo>
                  <a:lnTo>
                    <a:pt x="3616" y="88404"/>
                  </a:lnTo>
                  <a:lnTo>
                    <a:pt x="32147" y="88404"/>
                  </a:lnTo>
                  <a:lnTo>
                    <a:pt x="32147" y="120548"/>
                  </a:lnTo>
                  <a:lnTo>
                    <a:pt x="3616" y="120548"/>
                  </a:lnTo>
                  <a:lnTo>
                    <a:pt x="0" y="124167"/>
                  </a:lnTo>
                  <a:lnTo>
                    <a:pt x="0" y="133007"/>
                  </a:lnTo>
                  <a:lnTo>
                    <a:pt x="3616" y="136626"/>
                  </a:lnTo>
                  <a:lnTo>
                    <a:pt x="32147" y="136626"/>
                  </a:lnTo>
                  <a:lnTo>
                    <a:pt x="32147" y="168770"/>
                  </a:lnTo>
                  <a:lnTo>
                    <a:pt x="3616" y="168770"/>
                  </a:lnTo>
                  <a:lnTo>
                    <a:pt x="0" y="172389"/>
                  </a:lnTo>
                  <a:lnTo>
                    <a:pt x="0" y="181229"/>
                  </a:lnTo>
                  <a:lnTo>
                    <a:pt x="3616" y="184848"/>
                  </a:lnTo>
                  <a:lnTo>
                    <a:pt x="32147" y="184848"/>
                  </a:lnTo>
                  <a:lnTo>
                    <a:pt x="32147" y="192887"/>
                  </a:lnTo>
                  <a:lnTo>
                    <a:pt x="34677" y="205389"/>
                  </a:lnTo>
                  <a:lnTo>
                    <a:pt x="41571" y="215607"/>
                  </a:lnTo>
                  <a:lnTo>
                    <a:pt x="51790" y="222502"/>
                  </a:lnTo>
                  <a:lnTo>
                    <a:pt x="64293" y="225031"/>
                  </a:lnTo>
                  <a:lnTo>
                    <a:pt x="192881" y="225031"/>
                  </a:lnTo>
                  <a:lnTo>
                    <a:pt x="205384" y="222502"/>
                  </a:lnTo>
                  <a:lnTo>
                    <a:pt x="215603" y="215607"/>
                  </a:lnTo>
                  <a:lnTo>
                    <a:pt x="220094" y="208953"/>
                  </a:lnTo>
                  <a:lnTo>
                    <a:pt x="55403" y="208953"/>
                  </a:lnTo>
                  <a:lnTo>
                    <a:pt x="48220" y="201777"/>
                  </a:lnTo>
                  <a:lnTo>
                    <a:pt x="48220" y="55410"/>
                  </a:lnTo>
                  <a:lnTo>
                    <a:pt x="55403" y="48221"/>
                  </a:lnTo>
                  <a:lnTo>
                    <a:pt x="220091" y="48221"/>
                  </a:lnTo>
                  <a:lnTo>
                    <a:pt x="215603" y="41568"/>
                  </a:lnTo>
                  <a:lnTo>
                    <a:pt x="205384" y="34673"/>
                  </a:lnTo>
                  <a:lnTo>
                    <a:pt x="192881" y="32143"/>
                  </a:lnTo>
                  <a:close/>
                </a:path>
                <a:path w="257175" h="257175">
                  <a:moveTo>
                    <a:pt x="220091" y="48221"/>
                  </a:moveTo>
                  <a:lnTo>
                    <a:pt x="201771" y="48221"/>
                  </a:lnTo>
                  <a:lnTo>
                    <a:pt x="208954" y="55410"/>
                  </a:lnTo>
                  <a:lnTo>
                    <a:pt x="208954" y="201777"/>
                  </a:lnTo>
                  <a:lnTo>
                    <a:pt x="201771" y="208953"/>
                  </a:lnTo>
                  <a:lnTo>
                    <a:pt x="220094" y="208953"/>
                  </a:lnTo>
                  <a:lnTo>
                    <a:pt x="222499" y="205389"/>
                  </a:lnTo>
                  <a:lnTo>
                    <a:pt x="225028" y="192887"/>
                  </a:lnTo>
                  <a:lnTo>
                    <a:pt x="225028" y="184848"/>
                  </a:lnTo>
                  <a:lnTo>
                    <a:pt x="253558" y="184848"/>
                  </a:lnTo>
                  <a:lnTo>
                    <a:pt x="257175" y="181229"/>
                  </a:lnTo>
                  <a:lnTo>
                    <a:pt x="257175" y="172389"/>
                  </a:lnTo>
                  <a:lnTo>
                    <a:pt x="253558" y="168770"/>
                  </a:lnTo>
                  <a:lnTo>
                    <a:pt x="225028" y="168770"/>
                  </a:lnTo>
                  <a:lnTo>
                    <a:pt x="225028" y="136626"/>
                  </a:lnTo>
                  <a:lnTo>
                    <a:pt x="253558" y="136626"/>
                  </a:lnTo>
                  <a:lnTo>
                    <a:pt x="257175" y="133007"/>
                  </a:lnTo>
                  <a:lnTo>
                    <a:pt x="257175" y="124167"/>
                  </a:lnTo>
                  <a:lnTo>
                    <a:pt x="253558" y="120548"/>
                  </a:lnTo>
                  <a:lnTo>
                    <a:pt x="225028" y="120548"/>
                  </a:lnTo>
                  <a:lnTo>
                    <a:pt x="225028" y="88404"/>
                  </a:lnTo>
                  <a:lnTo>
                    <a:pt x="253558" y="88404"/>
                  </a:lnTo>
                  <a:lnTo>
                    <a:pt x="257175" y="84785"/>
                  </a:lnTo>
                  <a:lnTo>
                    <a:pt x="257175" y="75946"/>
                  </a:lnTo>
                  <a:lnTo>
                    <a:pt x="253558" y="72326"/>
                  </a:lnTo>
                  <a:lnTo>
                    <a:pt x="225028" y="72326"/>
                  </a:lnTo>
                  <a:lnTo>
                    <a:pt x="225028" y="64300"/>
                  </a:lnTo>
                  <a:lnTo>
                    <a:pt x="222499" y="51790"/>
                  </a:lnTo>
                  <a:lnTo>
                    <a:pt x="220091" y="48221"/>
                  </a:lnTo>
                  <a:close/>
                </a:path>
                <a:path w="257175" h="257175">
                  <a:moveTo>
                    <a:pt x="107818" y="88404"/>
                  </a:moveTo>
                  <a:lnTo>
                    <a:pt x="101234" y="88404"/>
                  </a:lnTo>
                  <a:lnTo>
                    <a:pt x="98399" y="90258"/>
                  </a:lnTo>
                  <a:lnTo>
                    <a:pt x="97133" y="93206"/>
                  </a:lnTo>
                  <a:lnTo>
                    <a:pt x="68994" y="157518"/>
                  </a:lnTo>
                  <a:lnTo>
                    <a:pt x="67225" y="161594"/>
                  </a:lnTo>
                  <a:lnTo>
                    <a:pt x="68630" y="165150"/>
                  </a:lnTo>
                  <a:lnTo>
                    <a:pt x="69180" y="166306"/>
                  </a:lnTo>
                  <a:lnTo>
                    <a:pt x="77316" y="169926"/>
                  </a:lnTo>
                  <a:lnTo>
                    <a:pt x="77071" y="169926"/>
                  </a:lnTo>
                  <a:lnTo>
                    <a:pt x="81974" y="168021"/>
                  </a:lnTo>
                  <a:lnTo>
                    <a:pt x="83709" y="163995"/>
                  </a:lnTo>
                  <a:lnTo>
                    <a:pt x="88657" y="152704"/>
                  </a:lnTo>
                  <a:lnTo>
                    <a:pt x="137882" y="152704"/>
                  </a:lnTo>
                  <a:lnTo>
                    <a:pt x="130847" y="136626"/>
                  </a:lnTo>
                  <a:lnTo>
                    <a:pt x="95686" y="136626"/>
                  </a:lnTo>
                  <a:lnTo>
                    <a:pt x="104477" y="116484"/>
                  </a:lnTo>
                  <a:lnTo>
                    <a:pt x="122033" y="116484"/>
                  </a:lnTo>
                  <a:lnTo>
                    <a:pt x="110558" y="90258"/>
                  </a:lnTo>
                  <a:lnTo>
                    <a:pt x="107818" y="88404"/>
                  </a:lnTo>
                  <a:close/>
                </a:path>
                <a:path w="257175" h="257175">
                  <a:moveTo>
                    <a:pt x="137882" y="152704"/>
                  </a:moveTo>
                  <a:lnTo>
                    <a:pt x="120298" y="152704"/>
                  </a:lnTo>
                  <a:lnTo>
                    <a:pt x="125274" y="163995"/>
                  </a:lnTo>
                  <a:lnTo>
                    <a:pt x="127080" y="168021"/>
                  </a:lnTo>
                  <a:lnTo>
                    <a:pt x="131801" y="169926"/>
                  </a:lnTo>
                  <a:lnTo>
                    <a:pt x="139938" y="166306"/>
                  </a:lnTo>
                  <a:lnTo>
                    <a:pt x="141748" y="161594"/>
                  </a:lnTo>
                  <a:lnTo>
                    <a:pt x="137882" y="152704"/>
                  </a:lnTo>
                  <a:close/>
                </a:path>
                <a:path w="257175" h="257175">
                  <a:moveTo>
                    <a:pt x="173191" y="88404"/>
                  </a:moveTo>
                  <a:lnTo>
                    <a:pt x="164350" y="88404"/>
                  </a:lnTo>
                  <a:lnTo>
                    <a:pt x="160735" y="92024"/>
                  </a:lnTo>
                  <a:lnTo>
                    <a:pt x="160735" y="165150"/>
                  </a:lnTo>
                  <a:lnTo>
                    <a:pt x="164350" y="168770"/>
                  </a:lnTo>
                  <a:lnTo>
                    <a:pt x="173191" y="168770"/>
                  </a:lnTo>
                  <a:lnTo>
                    <a:pt x="176808" y="165150"/>
                  </a:lnTo>
                  <a:lnTo>
                    <a:pt x="176808" y="92024"/>
                  </a:lnTo>
                  <a:lnTo>
                    <a:pt x="173191" y="88404"/>
                  </a:lnTo>
                  <a:close/>
                </a:path>
                <a:path w="257175" h="257175">
                  <a:moveTo>
                    <a:pt x="122033" y="116484"/>
                  </a:moveTo>
                  <a:lnTo>
                    <a:pt x="104477" y="116484"/>
                  </a:lnTo>
                  <a:lnTo>
                    <a:pt x="113318" y="136626"/>
                  </a:lnTo>
                  <a:lnTo>
                    <a:pt x="130847" y="136626"/>
                  </a:lnTo>
                  <a:lnTo>
                    <a:pt x="122033" y="116484"/>
                  </a:lnTo>
                  <a:close/>
                </a:path>
                <a:path w="257175" h="257175">
                  <a:moveTo>
                    <a:pt x="84787" y="0"/>
                  </a:moveTo>
                  <a:lnTo>
                    <a:pt x="75947" y="0"/>
                  </a:lnTo>
                  <a:lnTo>
                    <a:pt x="72330" y="3619"/>
                  </a:lnTo>
                  <a:lnTo>
                    <a:pt x="72330" y="32143"/>
                  </a:lnTo>
                  <a:lnTo>
                    <a:pt x="88403" y="32143"/>
                  </a:lnTo>
                  <a:lnTo>
                    <a:pt x="88403" y="3619"/>
                  </a:lnTo>
                  <a:lnTo>
                    <a:pt x="84787" y="0"/>
                  </a:lnTo>
                  <a:close/>
                </a:path>
                <a:path w="257175" h="257175">
                  <a:moveTo>
                    <a:pt x="133007" y="0"/>
                  </a:moveTo>
                  <a:lnTo>
                    <a:pt x="124167" y="0"/>
                  </a:lnTo>
                  <a:lnTo>
                    <a:pt x="120550" y="3619"/>
                  </a:lnTo>
                  <a:lnTo>
                    <a:pt x="120550" y="32143"/>
                  </a:lnTo>
                  <a:lnTo>
                    <a:pt x="136624" y="32143"/>
                  </a:lnTo>
                  <a:lnTo>
                    <a:pt x="136624" y="3619"/>
                  </a:lnTo>
                  <a:lnTo>
                    <a:pt x="133007" y="0"/>
                  </a:lnTo>
                  <a:close/>
                </a:path>
                <a:path w="257175" h="257175">
                  <a:moveTo>
                    <a:pt x="181227" y="0"/>
                  </a:moveTo>
                  <a:lnTo>
                    <a:pt x="172387" y="0"/>
                  </a:lnTo>
                  <a:lnTo>
                    <a:pt x="168771" y="3619"/>
                  </a:lnTo>
                  <a:lnTo>
                    <a:pt x="168771" y="32143"/>
                  </a:lnTo>
                  <a:lnTo>
                    <a:pt x="184844" y="32143"/>
                  </a:lnTo>
                  <a:lnTo>
                    <a:pt x="184844" y="3619"/>
                  </a:lnTo>
                  <a:lnTo>
                    <a:pt x="1812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75" y="31432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3095" y="3533774"/>
              <a:ext cx="161290" cy="257175"/>
            </a:xfrm>
            <a:custGeom>
              <a:avLst/>
              <a:gdLst/>
              <a:ahLst/>
              <a:cxnLst/>
              <a:rect l="l" t="t" r="r" b="b"/>
              <a:pathLst>
                <a:path w="161290" h="257175">
                  <a:moveTo>
                    <a:pt x="128587" y="0"/>
                  </a:moveTo>
                  <a:lnTo>
                    <a:pt x="32146" y="0"/>
                  </a:lnTo>
                  <a:lnTo>
                    <a:pt x="19643" y="2529"/>
                  </a:lnTo>
                  <a:lnTo>
                    <a:pt x="9424" y="9423"/>
                  </a:lnTo>
                  <a:lnTo>
                    <a:pt x="2529" y="19641"/>
                  </a:lnTo>
                  <a:lnTo>
                    <a:pt x="0" y="32143"/>
                  </a:lnTo>
                  <a:lnTo>
                    <a:pt x="0" y="225031"/>
                  </a:lnTo>
                  <a:lnTo>
                    <a:pt x="2529" y="237533"/>
                  </a:lnTo>
                  <a:lnTo>
                    <a:pt x="9424" y="247751"/>
                  </a:lnTo>
                  <a:lnTo>
                    <a:pt x="19643" y="254645"/>
                  </a:lnTo>
                  <a:lnTo>
                    <a:pt x="32146" y="257175"/>
                  </a:lnTo>
                  <a:lnTo>
                    <a:pt x="128587" y="257175"/>
                  </a:lnTo>
                  <a:lnTo>
                    <a:pt x="141090" y="254645"/>
                  </a:lnTo>
                  <a:lnTo>
                    <a:pt x="151309" y="247751"/>
                  </a:lnTo>
                  <a:lnTo>
                    <a:pt x="155799" y="241096"/>
                  </a:lnTo>
                  <a:lnTo>
                    <a:pt x="23256" y="241096"/>
                  </a:lnTo>
                  <a:lnTo>
                    <a:pt x="16073" y="233921"/>
                  </a:lnTo>
                  <a:lnTo>
                    <a:pt x="16073" y="23253"/>
                  </a:lnTo>
                  <a:lnTo>
                    <a:pt x="23256" y="16078"/>
                  </a:lnTo>
                  <a:lnTo>
                    <a:pt x="155799" y="16078"/>
                  </a:lnTo>
                  <a:lnTo>
                    <a:pt x="151309" y="9423"/>
                  </a:lnTo>
                  <a:lnTo>
                    <a:pt x="141090" y="2529"/>
                  </a:lnTo>
                  <a:lnTo>
                    <a:pt x="128587" y="0"/>
                  </a:lnTo>
                  <a:close/>
                </a:path>
                <a:path w="161290" h="257175">
                  <a:moveTo>
                    <a:pt x="155799" y="16078"/>
                  </a:moveTo>
                  <a:lnTo>
                    <a:pt x="137477" y="16078"/>
                  </a:lnTo>
                  <a:lnTo>
                    <a:pt x="144660" y="23253"/>
                  </a:lnTo>
                  <a:lnTo>
                    <a:pt x="144660" y="233921"/>
                  </a:lnTo>
                  <a:lnTo>
                    <a:pt x="137477" y="241096"/>
                  </a:lnTo>
                  <a:lnTo>
                    <a:pt x="155799" y="241096"/>
                  </a:lnTo>
                  <a:lnTo>
                    <a:pt x="158204" y="237533"/>
                  </a:lnTo>
                  <a:lnTo>
                    <a:pt x="160733" y="225031"/>
                  </a:lnTo>
                  <a:lnTo>
                    <a:pt x="160733" y="32143"/>
                  </a:lnTo>
                  <a:lnTo>
                    <a:pt x="158204" y="19641"/>
                  </a:lnTo>
                  <a:lnTo>
                    <a:pt x="155799" y="16078"/>
                  </a:lnTo>
                  <a:close/>
                </a:path>
                <a:path w="161290" h="257175">
                  <a:moveTo>
                    <a:pt x="64293" y="16078"/>
                  </a:moveTo>
                  <a:lnTo>
                    <a:pt x="48220" y="16078"/>
                  </a:lnTo>
                  <a:lnTo>
                    <a:pt x="48220" y="33007"/>
                  </a:lnTo>
                  <a:lnTo>
                    <a:pt x="55403" y="40182"/>
                  </a:lnTo>
                  <a:lnTo>
                    <a:pt x="105329" y="40182"/>
                  </a:lnTo>
                  <a:lnTo>
                    <a:pt x="112514" y="33007"/>
                  </a:lnTo>
                  <a:lnTo>
                    <a:pt x="112514" y="24117"/>
                  </a:lnTo>
                  <a:lnTo>
                    <a:pt x="64293" y="24117"/>
                  </a:lnTo>
                  <a:lnTo>
                    <a:pt x="64293" y="16078"/>
                  </a:lnTo>
                  <a:close/>
                </a:path>
                <a:path w="161290" h="257175">
                  <a:moveTo>
                    <a:pt x="112514" y="16078"/>
                  </a:moveTo>
                  <a:lnTo>
                    <a:pt x="96439" y="16078"/>
                  </a:lnTo>
                  <a:lnTo>
                    <a:pt x="96439" y="24117"/>
                  </a:lnTo>
                  <a:lnTo>
                    <a:pt x="112514" y="24117"/>
                  </a:lnTo>
                  <a:lnTo>
                    <a:pt x="112514" y="160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75" y="41719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1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0948" y="4562474"/>
              <a:ext cx="225425" cy="257175"/>
            </a:xfrm>
            <a:custGeom>
              <a:avLst/>
              <a:gdLst/>
              <a:ahLst/>
              <a:cxnLst/>
              <a:rect l="l" t="t" r="r" b="b"/>
              <a:pathLst>
                <a:path w="225425" h="257175">
                  <a:moveTo>
                    <a:pt x="112514" y="0"/>
                  </a:moveTo>
                  <a:lnTo>
                    <a:pt x="68720" y="3789"/>
                  </a:lnTo>
                  <a:lnTo>
                    <a:pt x="32956" y="14123"/>
                  </a:lnTo>
                  <a:lnTo>
                    <a:pt x="8842" y="29451"/>
                  </a:lnTo>
                  <a:lnTo>
                    <a:pt x="0" y="48221"/>
                  </a:lnTo>
                  <a:lnTo>
                    <a:pt x="0" y="208953"/>
                  </a:lnTo>
                  <a:lnTo>
                    <a:pt x="8842" y="227717"/>
                  </a:lnTo>
                  <a:lnTo>
                    <a:pt x="32956" y="243046"/>
                  </a:lnTo>
                  <a:lnTo>
                    <a:pt x="68720" y="253383"/>
                  </a:lnTo>
                  <a:lnTo>
                    <a:pt x="112514" y="257175"/>
                  </a:lnTo>
                  <a:lnTo>
                    <a:pt x="156308" y="253383"/>
                  </a:lnTo>
                  <a:lnTo>
                    <a:pt x="192072" y="243046"/>
                  </a:lnTo>
                  <a:lnTo>
                    <a:pt x="195139" y="241096"/>
                  </a:lnTo>
                  <a:lnTo>
                    <a:pt x="112514" y="241096"/>
                  </a:lnTo>
                  <a:lnTo>
                    <a:pt x="91175" y="240177"/>
                  </a:lnTo>
                  <a:lnTo>
                    <a:pt x="39281" y="228295"/>
                  </a:lnTo>
                  <a:lnTo>
                    <a:pt x="16074" y="210159"/>
                  </a:lnTo>
                  <a:lnTo>
                    <a:pt x="16074" y="166560"/>
                  </a:lnTo>
                  <a:lnTo>
                    <a:pt x="76696" y="166560"/>
                  </a:lnTo>
                  <a:lnTo>
                    <a:pt x="64424" y="164805"/>
                  </a:lnTo>
                  <a:lnTo>
                    <a:pt x="22364" y="151654"/>
                  </a:lnTo>
                  <a:lnTo>
                    <a:pt x="16074" y="147726"/>
                  </a:lnTo>
                  <a:lnTo>
                    <a:pt x="16074" y="102260"/>
                  </a:lnTo>
                  <a:lnTo>
                    <a:pt x="76607" y="102260"/>
                  </a:lnTo>
                  <a:lnTo>
                    <a:pt x="64424" y="100518"/>
                  </a:lnTo>
                  <a:lnTo>
                    <a:pt x="22364" y="87361"/>
                  </a:lnTo>
                  <a:lnTo>
                    <a:pt x="16074" y="83426"/>
                  </a:lnTo>
                  <a:lnTo>
                    <a:pt x="16074" y="47015"/>
                  </a:lnTo>
                  <a:lnTo>
                    <a:pt x="54148" y="23638"/>
                  </a:lnTo>
                  <a:lnTo>
                    <a:pt x="112514" y="16078"/>
                  </a:lnTo>
                  <a:lnTo>
                    <a:pt x="195146" y="16078"/>
                  </a:lnTo>
                  <a:lnTo>
                    <a:pt x="192072" y="14123"/>
                  </a:lnTo>
                  <a:lnTo>
                    <a:pt x="156308" y="3789"/>
                  </a:lnTo>
                  <a:lnTo>
                    <a:pt x="112514" y="0"/>
                  </a:lnTo>
                  <a:close/>
                </a:path>
                <a:path w="225425" h="257175">
                  <a:moveTo>
                    <a:pt x="225028" y="166560"/>
                  </a:moveTo>
                  <a:lnTo>
                    <a:pt x="208955" y="166560"/>
                  </a:lnTo>
                  <a:lnTo>
                    <a:pt x="208955" y="210159"/>
                  </a:lnTo>
                  <a:lnTo>
                    <a:pt x="208453" y="212674"/>
                  </a:lnTo>
                  <a:lnTo>
                    <a:pt x="170880" y="233536"/>
                  </a:lnTo>
                  <a:lnTo>
                    <a:pt x="112514" y="241096"/>
                  </a:lnTo>
                  <a:lnTo>
                    <a:pt x="195139" y="241096"/>
                  </a:lnTo>
                  <a:lnTo>
                    <a:pt x="216186" y="227717"/>
                  </a:lnTo>
                  <a:lnTo>
                    <a:pt x="225028" y="208953"/>
                  </a:lnTo>
                  <a:lnTo>
                    <a:pt x="225028" y="166560"/>
                  </a:lnTo>
                  <a:close/>
                </a:path>
                <a:path w="225425" h="257175">
                  <a:moveTo>
                    <a:pt x="76696" y="166560"/>
                  </a:moveTo>
                  <a:lnTo>
                    <a:pt x="16182" y="166560"/>
                  </a:lnTo>
                  <a:lnTo>
                    <a:pt x="23000" y="169763"/>
                  </a:lnTo>
                  <a:lnTo>
                    <a:pt x="61769" y="180647"/>
                  </a:lnTo>
                  <a:lnTo>
                    <a:pt x="112514" y="184848"/>
                  </a:lnTo>
                  <a:lnTo>
                    <a:pt x="130344" y="184359"/>
                  </a:lnTo>
                  <a:lnTo>
                    <a:pt x="178211" y="177558"/>
                  </a:lnTo>
                  <a:lnTo>
                    <a:pt x="204251" y="168770"/>
                  </a:lnTo>
                  <a:lnTo>
                    <a:pt x="112514" y="168770"/>
                  </a:lnTo>
                  <a:lnTo>
                    <a:pt x="95548" y="168302"/>
                  </a:lnTo>
                  <a:lnTo>
                    <a:pt x="79449" y="166954"/>
                  </a:lnTo>
                  <a:lnTo>
                    <a:pt x="76696" y="166560"/>
                  </a:lnTo>
                  <a:close/>
                </a:path>
                <a:path w="225425" h="257175">
                  <a:moveTo>
                    <a:pt x="225028" y="102260"/>
                  </a:moveTo>
                  <a:lnTo>
                    <a:pt x="208955" y="102260"/>
                  </a:lnTo>
                  <a:lnTo>
                    <a:pt x="208955" y="147726"/>
                  </a:lnTo>
                  <a:lnTo>
                    <a:pt x="202653" y="151654"/>
                  </a:lnTo>
                  <a:lnTo>
                    <a:pt x="160603" y="164805"/>
                  </a:lnTo>
                  <a:lnTo>
                    <a:pt x="112514" y="168770"/>
                  </a:lnTo>
                  <a:lnTo>
                    <a:pt x="204251" y="168770"/>
                  </a:lnTo>
                  <a:lnTo>
                    <a:pt x="208955" y="166560"/>
                  </a:lnTo>
                  <a:lnTo>
                    <a:pt x="225028" y="166560"/>
                  </a:lnTo>
                  <a:lnTo>
                    <a:pt x="225028" y="102260"/>
                  </a:lnTo>
                  <a:close/>
                </a:path>
                <a:path w="225425" h="257175">
                  <a:moveTo>
                    <a:pt x="76607" y="102260"/>
                  </a:moveTo>
                  <a:lnTo>
                    <a:pt x="16155" y="102260"/>
                  </a:lnTo>
                  <a:lnTo>
                    <a:pt x="22987" y="105463"/>
                  </a:lnTo>
                  <a:lnTo>
                    <a:pt x="61769" y="116353"/>
                  </a:lnTo>
                  <a:lnTo>
                    <a:pt x="112514" y="120548"/>
                  </a:lnTo>
                  <a:lnTo>
                    <a:pt x="130344" y="120059"/>
                  </a:lnTo>
                  <a:lnTo>
                    <a:pt x="178211" y="113271"/>
                  </a:lnTo>
                  <a:lnTo>
                    <a:pt x="204224" y="104482"/>
                  </a:lnTo>
                  <a:lnTo>
                    <a:pt x="112514" y="104482"/>
                  </a:lnTo>
                  <a:lnTo>
                    <a:pt x="95548" y="104015"/>
                  </a:lnTo>
                  <a:lnTo>
                    <a:pt x="79449" y="102666"/>
                  </a:lnTo>
                  <a:lnTo>
                    <a:pt x="76607" y="102260"/>
                  </a:lnTo>
                  <a:close/>
                </a:path>
                <a:path w="225425" h="257175">
                  <a:moveTo>
                    <a:pt x="195146" y="16078"/>
                  </a:moveTo>
                  <a:lnTo>
                    <a:pt x="112514" y="16078"/>
                  </a:lnTo>
                  <a:lnTo>
                    <a:pt x="133853" y="16997"/>
                  </a:lnTo>
                  <a:lnTo>
                    <a:pt x="153445" y="19597"/>
                  </a:lnTo>
                  <a:lnTo>
                    <a:pt x="194741" y="32753"/>
                  </a:lnTo>
                  <a:lnTo>
                    <a:pt x="208955" y="47015"/>
                  </a:lnTo>
                  <a:lnTo>
                    <a:pt x="208955" y="83426"/>
                  </a:lnTo>
                  <a:lnTo>
                    <a:pt x="160603" y="100518"/>
                  </a:lnTo>
                  <a:lnTo>
                    <a:pt x="112514" y="104482"/>
                  </a:lnTo>
                  <a:lnTo>
                    <a:pt x="204224" y="104482"/>
                  </a:lnTo>
                  <a:lnTo>
                    <a:pt x="208955" y="102260"/>
                  </a:lnTo>
                  <a:lnTo>
                    <a:pt x="225028" y="102260"/>
                  </a:lnTo>
                  <a:lnTo>
                    <a:pt x="225028" y="48221"/>
                  </a:lnTo>
                  <a:lnTo>
                    <a:pt x="216186" y="29451"/>
                  </a:lnTo>
                  <a:lnTo>
                    <a:pt x="195146" y="160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16075" y="2278062"/>
            <a:ext cx="7474584" cy="2674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35" dirty="0">
                <a:solidFill>
                  <a:srgbClr val="545759"/>
                </a:solidFill>
                <a:latin typeface="Arial Black"/>
                <a:cs typeface="Arial Black"/>
              </a:rPr>
              <a:t>AI-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POWERED</a:t>
            </a:r>
            <a:r>
              <a:rPr sz="1650" spc="-24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65" dirty="0">
                <a:solidFill>
                  <a:srgbClr val="545759"/>
                </a:solidFill>
                <a:latin typeface="Arial Black"/>
                <a:cs typeface="Arial Black"/>
              </a:rPr>
              <a:t>OPTIMIZATION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Machine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learning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algorithms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optimize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driver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allocation,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reduce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wait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times,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predict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10" dirty="0">
                <a:solidFill>
                  <a:srgbClr val="545759"/>
                </a:solidFill>
                <a:latin typeface="Roboto Th"/>
                <a:cs typeface="Roboto Th"/>
              </a:rPr>
              <a:t>demand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patterns</a:t>
            </a: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</a:pP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350">
              <a:latin typeface="Roboto Th"/>
              <a:cs typeface="Roboto Th"/>
            </a:endParaRPr>
          </a:p>
          <a:p>
            <a:pPr marL="12700">
              <a:lnSpc>
                <a:spcPct val="100000"/>
              </a:lnSpc>
            </a:pPr>
            <a:r>
              <a:rPr sz="1650" spc="-40" dirty="0">
                <a:solidFill>
                  <a:srgbClr val="545759"/>
                </a:solidFill>
                <a:latin typeface="Arial Black"/>
                <a:cs typeface="Arial Black"/>
              </a:rPr>
              <a:t>ADVANCED</a:t>
            </a:r>
            <a:r>
              <a:rPr sz="1650" spc="-22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45" dirty="0">
                <a:solidFill>
                  <a:srgbClr val="545759"/>
                </a:solidFill>
                <a:latin typeface="Arial Black"/>
                <a:cs typeface="Arial Black"/>
              </a:rPr>
              <a:t>MAPPING</a:t>
            </a:r>
            <a:r>
              <a:rPr sz="1650" spc="-22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85" dirty="0">
                <a:solidFill>
                  <a:srgbClr val="545759"/>
                </a:solidFill>
                <a:latin typeface="Arial Black"/>
                <a:cs typeface="Arial Black"/>
              </a:rPr>
              <a:t>&amp;</a:t>
            </a:r>
            <a:r>
              <a:rPr sz="1650" spc="-22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ROUTING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Proprietary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Roboto Th"/>
                <a:cs typeface="Roboto Th"/>
              </a:rPr>
              <a:t>mapping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technology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handles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complex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Southeast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Asian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Roboto Th"/>
                <a:cs typeface="Roboto Th"/>
              </a:rPr>
              <a:t>traffic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patterns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infrastructure</a:t>
            </a: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</a:pP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350">
              <a:latin typeface="Roboto Th"/>
              <a:cs typeface="Roboto Th"/>
            </a:endParaRPr>
          </a:p>
          <a:p>
            <a:pPr marL="12700">
              <a:lnSpc>
                <a:spcPct val="100000"/>
              </a:lnSpc>
            </a:pPr>
            <a:r>
              <a:rPr sz="1650" spc="-80" dirty="0">
                <a:solidFill>
                  <a:srgbClr val="545759"/>
                </a:solidFill>
                <a:latin typeface="Arial Black"/>
                <a:cs typeface="Arial Black"/>
              </a:rPr>
              <a:t>REAL-</a:t>
            </a:r>
            <a:r>
              <a:rPr sz="1650" spc="90" dirty="0">
                <a:solidFill>
                  <a:srgbClr val="545759"/>
                </a:solidFill>
                <a:latin typeface="Arial Black"/>
                <a:cs typeface="Arial Black"/>
              </a:rPr>
              <a:t>TIME</a:t>
            </a:r>
            <a:r>
              <a:rPr sz="1650" spc="-21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5" dirty="0">
                <a:solidFill>
                  <a:srgbClr val="545759"/>
                </a:solidFill>
                <a:latin typeface="Arial Black"/>
                <a:cs typeface="Arial Black"/>
              </a:rPr>
              <a:t>DATA</a:t>
            </a:r>
            <a:r>
              <a:rPr sz="1650" spc="-21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ANALYTICS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Continuous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data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Roboto Th"/>
                <a:cs typeface="Roboto Th"/>
              </a:rPr>
              <a:t>processing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enables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Roboto Th"/>
                <a:cs typeface="Roboto Th"/>
              </a:rPr>
              <a:t>dynamic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Roboto Th"/>
                <a:cs typeface="Roboto Th"/>
              </a:rPr>
              <a:t>pricing,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Roboto Th"/>
                <a:cs typeface="Roboto Th"/>
              </a:rPr>
              <a:t>supply-</a:t>
            </a:r>
            <a:r>
              <a:rPr sz="1350" spc="-110" dirty="0">
                <a:solidFill>
                  <a:srgbClr val="545759"/>
                </a:solidFill>
                <a:latin typeface="Roboto Th"/>
                <a:cs typeface="Roboto Th"/>
              </a:rPr>
              <a:t>demand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balancing,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personalized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experiences</a:t>
            </a:r>
            <a:endParaRPr sz="1350">
              <a:latin typeface="Roboto Th"/>
              <a:cs typeface="Roboto 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KEY</a:t>
            </a:r>
            <a:r>
              <a:rPr spc="-484" dirty="0"/>
              <a:t> </a:t>
            </a:r>
            <a:r>
              <a:rPr spc="-100" dirty="0"/>
              <a:t>SUCCESS</a:t>
            </a:r>
            <a:r>
              <a:rPr spc="-480" dirty="0"/>
              <a:t> </a:t>
            </a:r>
            <a:r>
              <a:rPr spc="-105" dirty="0"/>
              <a:t>FACTORS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1781174"/>
            <a:ext cx="5029200" cy="1790700"/>
            <a:chOff x="600074" y="1781174"/>
            <a:chExt cx="5029200" cy="1790700"/>
          </a:xfrm>
        </p:grpSpPr>
        <p:sp>
          <p:nvSpPr>
            <p:cNvPr id="4" name="object 4"/>
            <p:cNvSpPr/>
            <p:nvPr/>
          </p:nvSpPr>
          <p:spPr>
            <a:xfrm>
              <a:off x="609600" y="2038349"/>
              <a:ext cx="5010150" cy="1524000"/>
            </a:xfrm>
            <a:custGeom>
              <a:avLst/>
              <a:gdLst/>
              <a:ahLst/>
              <a:cxnLst/>
              <a:rect l="l" t="t" r="r" b="b"/>
              <a:pathLst>
                <a:path w="5010150" h="1524000">
                  <a:moveTo>
                    <a:pt x="494785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12100"/>
                  </a:lnTo>
                  <a:lnTo>
                    <a:pt x="0" y="1515376"/>
                  </a:lnTo>
                  <a:lnTo>
                    <a:pt x="1160" y="1518183"/>
                  </a:lnTo>
                  <a:lnTo>
                    <a:pt x="5814" y="1522831"/>
                  </a:lnTo>
                  <a:lnTo>
                    <a:pt x="8616" y="1524000"/>
                  </a:lnTo>
                  <a:lnTo>
                    <a:pt x="5001526" y="1524000"/>
                  </a:lnTo>
                  <a:lnTo>
                    <a:pt x="5004333" y="1522831"/>
                  </a:lnTo>
                  <a:lnTo>
                    <a:pt x="5008994" y="1518183"/>
                  </a:lnTo>
                  <a:lnTo>
                    <a:pt x="5010150" y="1515376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062" y="2019299"/>
              <a:ext cx="5029835" cy="1553210"/>
            </a:xfrm>
            <a:custGeom>
              <a:avLst/>
              <a:gdLst/>
              <a:ahLst/>
              <a:cxnLst/>
              <a:rect l="l" t="t" r="r" b="b"/>
              <a:pathLst>
                <a:path w="5029835" h="1553210">
                  <a:moveTo>
                    <a:pt x="5029212" y="18592"/>
                  </a:moveTo>
                  <a:lnTo>
                    <a:pt x="5010607" y="0"/>
                  </a:lnTo>
                  <a:lnTo>
                    <a:pt x="5010150" y="0"/>
                  </a:lnTo>
                  <a:lnTo>
                    <a:pt x="5010150" y="95262"/>
                  </a:lnTo>
                  <a:lnTo>
                    <a:pt x="5010150" y="1532750"/>
                  </a:lnTo>
                  <a:lnTo>
                    <a:pt x="5009756" y="1533144"/>
                  </a:lnTo>
                  <a:lnTo>
                    <a:pt x="5009362" y="1533537"/>
                  </a:lnTo>
                  <a:lnTo>
                    <a:pt x="19850" y="1533537"/>
                  </a:lnTo>
                  <a:lnTo>
                    <a:pt x="19050" y="1532750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5008270" y="76200"/>
                  </a:lnTo>
                  <a:lnTo>
                    <a:pt x="5009070" y="80391"/>
                  </a:lnTo>
                  <a:lnTo>
                    <a:pt x="5009883" y="87744"/>
                  </a:lnTo>
                  <a:lnTo>
                    <a:pt x="5010150" y="95262"/>
                  </a:lnTo>
                  <a:lnTo>
                    <a:pt x="5010150" y="0"/>
                  </a:lnTo>
                  <a:lnTo>
                    <a:pt x="18592" y="0"/>
                  </a:lnTo>
                  <a:lnTo>
                    <a:pt x="15862" y="546"/>
                  </a:lnTo>
                  <a:lnTo>
                    <a:pt x="12" y="18592"/>
                  </a:lnTo>
                  <a:lnTo>
                    <a:pt x="12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537081"/>
                  </a:lnTo>
                  <a:lnTo>
                    <a:pt x="2095" y="1542122"/>
                  </a:lnTo>
                  <a:lnTo>
                    <a:pt x="6756" y="1546783"/>
                  </a:lnTo>
                  <a:lnTo>
                    <a:pt x="10464" y="1550492"/>
                  </a:lnTo>
                  <a:lnTo>
                    <a:pt x="15519" y="1552587"/>
                  </a:lnTo>
                  <a:lnTo>
                    <a:pt x="5013693" y="1552587"/>
                  </a:lnTo>
                  <a:lnTo>
                    <a:pt x="5018735" y="1550492"/>
                  </a:lnTo>
                  <a:lnTo>
                    <a:pt x="5022443" y="1546783"/>
                  </a:lnTo>
                  <a:lnTo>
                    <a:pt x="5022926" y="1546301"/>
                  </a:lnTo>
                  <a:lnTo>
                    <a:pt x="5027104" y="1542122"/>
                  </a:lnTo>
                  <a:lnTo>
                    <a:pt x="5029200" y="1537081"/>
                  </a:lnTo>
                  <a:lnTo>
                    <a:pt x="5029200" y="95262"/>
                  </a:lnTo>
                  <a:lnTo>
                    <a:pt x="5028844" y="87744"/>
                  </a:lnTo>
                  <a:lnTo>
                    <a:pt x="5027752" y="80391"/>
                  </a:lnTo>
                  <a:lnTo>
                    <a:pt x="5026698" y="76200"/>
                  </a:lnTo>
                  <a:lnTo>
                    <a:pt x="5029212" y="76200"/>
                  </a:lnTo>
                  <a:lnTo>
                    <a:pt x="5029212" y="1859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57499" y="17811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00724" y="1781174"/>
            <a:ext cx="5029200" cy="1790700"/>
            <a:chOff x="5800724" y="1781174"/>
            <a:chExt cx="5029200" cy="1790700"/>
          </a:xfrm>
        </p:grpSpPr>
        <p:sp>
          <p:nvSpPr>
            <p:cNvPr id="8" name="object 8"/>
            <p:cNvSpPr/>
            <p:nvPr/>
          </p:nvSpPr>
          <p:spPr>
            <a:xfrm>
              <a:off x="5810250" y="2038349"/>
              <a:ext cx="5010150" cy="1524000"/>
            </a:xfrm>
            <a:custGeom>
              <a:avLst/>
              <a:gdLst/>
              <a:ahLst/>
              <a:cxnLst/>
              <a:rect l="l" t="t" r="r" b="b"/>
              <a:pathLst>
                <a:path w="5010150" h="1524000">
                  <a:moveTo>
                    <a:pt x="49478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12100"/>
                  </a:lnTo>
                  <a:lnTo>
                    <a:pt x="0" y="1515376"/>
                  </a:lnTo>
                  <a:lnTo>
                    <a:pt x="1155" y="1518183"/>
                  </a:lnTo>
                  <a:lnTo>
                    <a:pt x="5816" y="1522831"/>
                  </a:lnTo>
                  <a:lnTo>
                    <a:pt x="8623" y="1524000"/>
                  </a:lnTo>
                  <a:lnTo>
                    <a:pt x="5001526" y="1524000"/>
                  </a:lnTo>
                  <a:lnTo>
                    <a:pt x="5004333" y="1522831"/>
                  </a:lnTo>
                  <a:lnTo>
                    <a:pt x="5008981" y="1518183"/>
                  </a:lnTo>
                  <a:lnTo>
                    <a:pt x="5010150" y="1515376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0712" y="2019299"/>
              <a:ext cx="5029835" cy="1553210"/>
            </a:xfrm>
            <a:custGeom>
              <a:avLst/>
              <a:gdLst/>
              <a:ahLst/>
              <a:cxnLst/>
              <a:rect l="l" t="t" r="r" b="b"/>
              <a:pathLst>
                <a:path w="5029834" h="1553210">
                  <a:moveTo>
                    <a:pt x="5029212" y="18592"/>
                  </a:moveTo>
                  <a:lnTo>
                    <a:pt x="5010620" y="0"/>
                  </a:lnTo>
                  <a:lnTo>
                    <a:pt x="5010150" y="0"/>
                  </a:lnTo>
                  <a:lnTo>
                    <a:pt x="5010150" y="95262"/>
                  </a:lnTo>
                  <a:lnTo>
                    <a:pt x="5010150" y="1532750"/>
                  </a:lnTo>
                  <a:lnTo>
                    <a:pt x="5009756" y="1533144"/>
                  </a:lnTo>
                  <a:lnTo>
                    <a:pt x="5009362" y="1533537"/>
                  </a:lnTo>
                  <a:lnTo>
                    <a:pt x="19850" y="1533537"/>
                  </a:lnTo>
                  <a:lnTo>
                    <a:pt x="19050" y="1532750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5008270" y="76200"/>
                  </a:lnTo>
                  <a:lnTo>
                    <a:pt x="5009070" y="80391"/>
                  </a:lnTo>
                  <a:lnTo>
                    <a:pt x="5009883" y="87744"/>
                  </a:lnTo>
                  <a:lnTo>
                    <a:pt x="5010150" y="95262"/>
                  </a:lnTo>
                  <a:lnTo>
                    <a:pt x="5010150" y="0"/>
                  </a:lnTo>
                  <a:lnTo>
                    <a:pt x="18605" y="0"/>
                  </a:lnTo>
                  <a:lnTo>
                    <a:pt x="15849" y="546"/>
                  </a:lnTo>
                  <a:lnTo>
                    <a:pt x="12" y="18592"/>
                  </a:lnTo>
                  <a:lnTo>
                    <a:pt x="12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537081"/>
                  </a:lnTo>
                  <a:lnTo>
                    <a:pt x="2095" y="1542122"/>
                  </a:lnTo>
                  <a:lnTo>
                    <a:pt x="6756" y="1546783"/>
                  </a:lnTo>
                  <a:lnTo>
                    <a:pt x="10464" y="1550492"/>
                  </a:lnTo>
                  <a:lnTo>
                    <a:pt x="15506" y="1552587"/>
                  </a:lnTo>
                  <a:lnTo>
                    <a:pt x="5013693" y="1552587"/>
                  </a:lnTo>
                  <a:lnTo>
                    <a:pt x="5018735" y="1550492"/>
                  </a:lnTo>
                  <a:lnTo>
                    <a:pt x="5022443" y="1546783"/>
                  </a:lnTo>
                  <a:lnTo>
                    <a:pt x="5022926" y="1546301"/>
                  </a:lnTo>
                  <a:lnTo>
                    <a:pt x="5027104" y="1542122"/>
                  </a:lnTo>
                  <a:lnTo>
                    <a:pt x="5029200" y="1537081"/>
                  </a:lnTo>
                  <a:lnTo>
                    <a:pt x="5029200" y="95262"/>
                  </a:lnTo>
                  <a:lnTo>
                    <a:pt x="5028844" y="87744"/>
                  </a:lnTo>
                  <a:lnTo>
                    <a:pt x="5027752" y="80391"/>
                  </a:lnTo>
                  <a:lnTo>
                    <a:pt x="5026698" y="76200"/>
                  </a:lnTo>
                  <a:lnTo>
                    <a:pt x="5029212" y="76200"/>
                  </a:lnTo>
                  <a:lnTo>
                    <a:pt x="5029212" y="1859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58150" y="17811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00074" y="3743325"/>
            <a:ext cx="5029200" cy="1800225"/>
            <a:chOff x="600074" y="3743325"/>
            <a:chExt cx="5029200" cy="1800225"/>
          </a:xfrm>
        </p:grpSpPr>
        <p:sp>
          <p:nvSpPr>
            <p:cNvPr id="12" name="object 12"/>
            <p:cNvSpPr/>
            <p:nvPr/>
          </p:nvSpPr>
          <p:spPr>
            <a:xfrm>
              <a:off x="609600" y="4000500"/>
              <a:ext cx="5010150" cy="1533525"/>
            </a:xfrm>
            <a:custGeom>
              <a:avLst/>
              <a:gdLst/>
              <a:ahLst/>
              <a:cxnLst/>
              <a:rect l="l" t="t" r="r" b="b"/>
              <a:pathLst>
                <a:path w="5010150" h="1533525">
                  <a:moveTo>
                    <a:pt x="494785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21620"/>
                  </a:lnTo>
                  <a:lnTo>
                    <a:pt x="0" y="1524904"/>
                  </a:lnTo>
                  <a:lnTo>
                    <a:pt x="1160" y="1527712"/>
                  </a:lnTo>
                  <a:lnTo>
                    <a:pt x="5814" y="1532360"/>
                  </a:lnTo>
                  <a:lnTo>
                    <a:pt x="8616" y="1533521"/>
                  </a:lnTo>
                  <a:lnTo>
                    <a:pt x="5001526" y="1533521"/>
                  </a:lnTo>
                  <a:lnTo>
                    <a:pt x="5004333" y="1532360"/>
                  </a:lnTo>
                  <a:lnTo>
                    <a:pt x="5008994" y="1527712"/>
                  </a:lnTo>
                  <a:lnTo>
                    <a:pt x="5010150" y="1524904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062" y="3981449"/>
              <a:ext cx="5029835" cy="1562735"/>
            </a:xfrm>
            <a:custGeom>
              <a:avLst/>
              <a:gdLst/>
              <a:ahLst/>
              <a:cxnLst/>
              <a:rect l="l" t="t" r="r" b="b"/>
              <a:pathLst>
                <a:path w="5029835" h="1562735">
                  <a:moveTo>
                    <a:pt x="5029212" y="18592"/>
                  </a:moveTo>
                  <a:lnTo>
                    <a:pt x="5010607" y="0"/>
                  </a:lnTo>
                  <a:lnTo>
                    <a:pt x="5010150" y="0"/>
                  </a:lnTo>
                  <a:lnTo>
                    <a:pt x="5010150" y="95262"/>
                  </a:lnTo>
                  <a:lnTo>
                    <a:pt x="5010150" y="1542262"/>
                  </a:lnTo>
                  <a:lnTo>
                    <a:pt x="5009756" y="1542669"/>
                  </a:lnTo>
                  <a:lnTo>
                    <a:pt x="5009362" y="1543062"/>
                  </a:lnTo>
                  <a:lnTo>
                    <a:pt x="19850" y="1543062"/>
                  </a:lnTo>
                  <a:lnTo>
                    <a:pt x="19050" y="1542262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5008270" y="76200"/>
                  </a:lnTo>
                  <a:lnTo>
                    <a:pt x="5009070" y="80391"/>
                  </a:lnTo>
                  <a:lnTo>
                    <a:pt x="5009883" y="87744"/>
                  </a:lnTo>
                  <a:lnTo>
                    <a:pt x="5010150" y="95262"/>
                  </a:lnTo>
                  <a:lnTo>
                    <a:pt x="5010150" y="0"/>
                  </a:lnTo>
                  <a:lnTo>
                    <a:pt x="18592" y="0"/>
                  </a:lnTo>
                  <a:lnTo>
                    <a:pt x="15862" y="546"/>
                  </a:lnTo>
                  <a:lnTo>
                    <a:pt x="12" y="18592"/>
                  </a:lnTo>
                  <a:lnTo>
                    <a:pt x="12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546593"/>
                  </a:lnTo>
                  <a:lnTo>
                    <a:pt x="2095" y="1551647"/>
                  </a:lnTo>
                  <a:lnTo>
                    <a:pt x="6756" y="1556308"/>
                  </a:lnTo>
                  <a:lnTo>
                    <a:pt x="10464" y="1560017"/>
                  </a:lnTo>
                  <a:lnTo>
                    <a:pt x="15519" y="1562112"/>
                  </a:lnTo>
                  <a:lnTo>
                    <a:pt x="5013693" y="1562112"/>
                  </a:lnTo>
                  <a:lnTo>
                    <a:pt x="5018735" y="1560017"/>
                  </a:lnTo>
                  <a:lnTo>
                    <a:pt x="5022443" y="1556308"/>
                  </a:lnTo>
                  <a:lnTo>
                    <a:pt x="5022926" y="1555826"/>
                  </a:lnTo>
                  <a:lnTo>
                    <a:pt x="5027104" y="1551647"/>
                  </a:lnTo>
                  <a:lnTo>
                    <a:pt x="5029200" y="1546593"/>
                  </a:lnTo>
                  <a:lnTo>
                    <a:pt x="5029200" y="95262"/>
                  </a:lnTo>
                  <a:lnTo>
                    <a:pt x="5028844" y="87744"/>
                  </a:lnTo>
                  <a:lnTo>
                    <a:pt x="5027752" y="80391"/>
                  </a:lnTo>
                  <a:lnTo>
                    <a:pt x="5026698" y="76200"/>
                  </a:lnTo>
                  <a:lnTo>
                    <a:pt x="5029212" y="76200"/>
                  </a:lnTo>
                  <a:lnTo>
                    <a:pt x="5029212" y="1859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57499" y="37433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6364" algn="ctr">
              <a:lnSpc>
                <a:spcPct val="100000"/>
              </a:lnSpc>
              <a:spcBef>
                <a:spcPts val="120"/>
              </a:spcBef>
            </a:pPr>
            <a:r>
              <a:rPr spc="-434" dirty="0"/>
              <a:t>1</a:t>
            </a: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pc="-434" dirty="0"/>
          </a:p>
          <a:p>
            <a:pPr marL="12700">
              <a:lnSpc>
                <a:spcPct val="100000"/>
              </a:lnSpc>
            </a:pPr>
            <a:r>
              <a:rPr sz="1650" spc="-50" dirty="0">
                <a:solidFill>
                  <a:srgbClr val="545759"/>
                </a:solidFill>
              </a:rPr>
              <a:t>LOCAL</a:t>
            </a:r>
            <a:r>
              <a:rPr sz="1650" spc="-210" dirty="0">
                <a:solidFill>
                  <a:srgbClr val="545759"/>
                </a:solidFill>
              </a:rPr>
              <a:t> </a:t>
            </a:r>
            <a:r>
              <a:rPr sz="1650" spc="-25" dirty="0">
                <a:solidFill>
                  <a:srgbClr val="545759"/>
                </a:solidFill>
              </a:rPr>
              <a:t>MARKET</a:t>
            </a:r>
            <a:r>
              <a:rPr sz="1650" spc="-210" dirty="0">
                <a:solidFill>
                  <a:srgbClr val="545759"/>
                </a:solidFill>
              </a:rPr>
              <a:t> </a:t>
            </a:r>
            <a:r>
              <a:rPr sz="1650" spc="-10" dirty="0">
                <a:solidFill>
                  <a:srgbClr val="545759"/>
                </a:solidFill>
              </a:rPr>
              <a:t>ADAPTATION</a:t>
            </a:r>
            <a:endParaRPr sz="1650"/>
          </a:p>
          <a:p>
            <a:pPr marL="12700" marR="197485">
              <a:lnSpc>
                <a:spcPct val="129600"/>
              </a:lnSpc>
              <a:spcBef>
                <a:spcPts val="545"/>
              </a:spcBef>
            </a:pP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Customized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services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for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each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ASEAN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market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10" dirty="0">
                <a:solidFill>
                  <a:srgbClr val="545759"/>
                </a:solidFill>
                <a:latin typeface="Roboto Th"/>
                <a:cs typeface="Roboto Th"/>
              </a:rPr>
              <a:t>-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cash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Roboto Th"/>
                <a:cs typeface="Roboto Th"/>
              </a:rPr>
              <a:t>payments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Roboto Th"/>
                <a:cs typeface="Roboto Th"/>
              </a:rPr>
              <a:t>in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Indonesia,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motorbike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Roboto Th"/>
                <a:cs typeface="Roboto Th"/>
              </a:rPr>
              <a:t>taxis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in</a:t>
            </a:r>
            <a:r>
              <a:rPr sz="1350" spc="-3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Vietnam</a:t>
            </a: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</a:pP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350">
              <a:latin typeface="Roboto Th"/>
              <a:cs typeface="Roboto Th"/>
            </a:endParaRPr>
          </a:p>
          <a:p>
            <a:pPr marL="126364" algn="ctr">
              <a:lnSpc>
                <a:spcPct val="100000"/>
              </a:lnSpc>
            </a:pPr>
            <a:r>
              <a:rPr spc="-50" dirty="0"/>
              <a:t>3</a:t>
            </a: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pc="-50" dirty="0"/>
          </a:p>
          <a:p>
            <a:pPr marL="12700">
              <a:lnSpc>
                <a:spcPct val="100000"/>
              </a:lnSpc>
            </a:pPr>
            <a:r>
              <a:rPr sz="1650" spc="-50" dirty="0">
                <a:solidFill>
                  <a:srgbClr val="545759"/>
                </a:solidFill>
              </a:rPr>
              <a:t>ECOSYSTEM</a:t>
            </a:r>
            <a:r>
              <a:rPr sz="1650" spc="-190" dirty="0">
                <a:solidFill>
                  <a:srgbClr val="545759"/>
                </a:solidFill>
              </a:rPr>
              <a:t> </a:t>
            </a:r>
            <a:r>
              <a:rPr sz="1650" spc="-10" dirty="0">
                <a:solidFill>
                  <a:srgbClr val="545759"/>
                </a:solidFill>
              </a:rPr>
              <a:t>INTEGRATION</a:t>
            </a:r>
            <a:endParaRPr sz="1650"/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85" dirty="0">
                <a:solidFill>
                  <a:srgbClr val="545759"/>
                </a:solidFill>
                <a:latin typeface="Roboto Th"/>
                <a:cs typeface="Roboto Th"/>
              </a:rPr>
              <a:t>Seamless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Roboto Th"/>
                <a:cs typeface="Roboto Th"/>
              </a:rPr>
              <a:t>user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journey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across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services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drives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Roboto Th"/>
                <a:cs typeface="Roboto Th"/>
              </a:rPr>
              <a:t>engagement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10" dirty="0">
                <a:solidFill>
                  <a:srgbClr val="545759"/>
                </a:solidFill>
                <a:latin typeface="Roboto Th"/>
                <a:cs typeface="Roboto Th"/>
              </a:rPr>
              <a:t>-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14" dirty="0">
                <a:solidFill>
                  <a:srgbClr val="545759"/>
                </a:solidFill>
                <a:latin typeface="Roboto Th"/>
                <a:cs typeface="Roboto Th"/>
              </a:rPr>
              <a:t>73%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Roboto Th"/>
                <a:cs typeface="Roboto Th"/>
              </a:rPr>
              <a:t>of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users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use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multiple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Roboto Th"/>
                <a:cs typeface="Roboto Th"/>
              </a:rPr>
              <a:t>Grab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services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monthly</a:t>
            </a:r>
            <a:endParaRPr sz="1350">
              <a:latin typeface="Roboto Th"/>
              <a:cs typeface="Roboto 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00724" y="3743325"/>
            <a:ext cx="5029200" cy="1800225"/>
            <a:chOff x="5800724" y="3743325"/>
            <a:chExt cx="5029200" cy="1800225"/>
          </a:xfrm>
        </p:grpSpPr>
        <p:sp>
          <p:nvSpPr>
            <p:cNvPr id="17" name="object 17"/>
            <p:cNvSpPr/>
            <p:nvPr/>
          </p:nvSpPr>
          <p:spPr>
            <a:xfrm>
              <a:off x="5810250" y="4000500"/>
              <a:ext cx="5010150" cy="1533525"/>
            </a:xfrm>
            <a:custGeom>
              <a:avLst/>
              <a:gdLst/>
              <a:ahLst/>
              <a:cxnLst/>
              <a:rect l="l" t="t" r="r" b="b"/>
              <a:pathLst>
                <a:path w="5010150" h="1533525">
                  <a:moveTo>
                    <a:pt x="49478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21620"/>
                  </a:lnTo>
                  <a:lnTo>
                    <a:pt x="0" y="1524904"/>
                  </a:lnTo>
                  <a:lnTo>
                    <a:pt x="1155" y="1527712"/>
                  </a:lnTo>
                  <a:lnTo>
                    <a:pt x="5816" y="1532360"/>
                  </a:lnTo>
                  <a:lnTo>
                    <a:pt x="8623" y="1533521"/>
                  </a:lnTo>
                  <a:lnTo>
                    <a:pt x="5001526" y="1533521"/>
                  </a:lnTo>
                  <a:lnTo>
                    <a:pt x="5004333" y="1532360"/>
                  </a:lnTo>
                  <a:lnTo>
                    <a:pt x="5008981" y="1527712"/>
                  </a:lnTo>
                  <a:lnTo>
                    <a:pt x="5010150" y="1524904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00712" y="3981449"/>
              <a:ext cx="5029835" cy="1562735"/>
            </a:xfrm>
            <a:custGeom>
              <a:avLst/>
              <a:gdLst/>
              <a:ahLst/>
              <a:cxnLst/>
              <a:rect l="l" t="t" r="r" b="b"/>
              <a:pathLst>
                <a:path w="5029834" h="1562735">
                  <a:moveTo>
                    <a:pt x="5029212" y="18592"/>
                  </a:moveTo>
                  <a:lnTo>
                    <a:pt x="5010620" y="0"/>
                  </a:lnTo>
                  <a:lnTo>
                    <a:pt x="5010150" y="0"/>
                  </a:lnTo>
                  <a:lnTo>
                    <a:pt x="5010150" y="95262"/>
                  </a:lnTo>
                  <a:lnTo>
                    <a:pt x="5010150" y="1542262"/>
                  </a:lnTo>
                  <a:lnTo>
                    <a:pt x="5009756" y="1542669"/>
                  </a:lnTo>
                  <a:lnTo>
                    <a:pt x="5009362" y="1543062"/>
                  </a:lnTo>
                  <a:lnTo>
                    <a:pt x="19850" y="1543062"/>
                  </a:lnTo>
                  <a:lnTo>
                    <a:pt x="19050" y="1542262"/>
                  </a:lnTo>
                  <a:lnTo>
                    <a:pt x="19050" y="95262"/>
                  </a:lnTo>
                  <a:lnTo>
                    <a:pt x="19329" y="87744"/>
                  </a:lnTo>
                  <a:lnTo>
                    <a:pt x="20142" y="80391"/>
                  </a:lnTo>
                  <a:lnTo>
                    <a:pt x="20929" y="76200"/>
                  </a:lnTo>
                  <a:lnTo>
                    <a:pt x="5008270" y="76200"/>
                  </a:lnTo>
                  <a:lnTo>
                    <a:pt x="5009070" y="80391"/>
                  </a:lnTo>
                  <a:lnTo>
                    <a:pt x="5009883" y="87744"/>
                  </a:lnTo>
                  <a:lnTo>
                    <a:pt x="5010150" y="95262"/>
                  </a:lnTo>
                  <a:lnTo>
                    <a:pt x="5010150" y="0"/>
                  </a:lnTo>
                  <a:lnTo>
                    <a:pt x="18605" y="0"/>
                  </a:lnTo>
                  <a:lnTo>
                    <a:pt x="15849" y="546"/>
                  </a:lnTo>
                  <a:lnTo>
                    <a:pt x="12" y="18592"/>
                  </a:lnTo>
                  <a:lnTo>
                    <a:pt x="12" y="76200"/>
                  </a:lnTo>
                  <a:lnTo>
                    <a:pt x="2501" y="76200"/>
                  </a:lnTo>
                  <a:lnTo>
                    <a:pt x="1460" y="80391"/>
                  </a:lnTo>
                  <a:lnTo>
                    <a:pt x="368" y="87744"/>
                  </a:lnTo>
                  <a:lnTo>
                    <a:pt x="0" y="95262"/>
                  </a:lnTo>
                  <a:lnTo>
                    <a:pt x="0" y="1546593"/>
                  </a:lnTo>
                  <a:lnTo>
                    <a:pt x="2095" y="1551647"/>
                  </a:lnTo>
                  <a:lnTo>
                    <a:pt x="6756" y="1556308"/>
                  </a:lnTo>
                  <a:lnTo>
                    <a:pt x="10464" y="1560017"/>
                  </a:lnTo>
                  <a:lnTo>
                    <a:pt x="15506" y="1562112"/>
                  </a:lnTo>
                  <a:lnTo>
                    <a:pt x="5013693" y="1562112"/>
                  </a:lnTo>
                  <a:lnTo>
                    <a:pt x="5018735" y="1560017"/>
                  </a:lnTo>
                  <a:lnTo>
                    <a:pt x="5022443" y="1556308"/>
                  </a:lnTo>
                  <a:lnTo>
                    <a:pt x="5022926" y="1555826"/>
                  </a:lnTo>
                  <a:lnTo>
                    <a:pt x="5027104" y="1551647"/>
                  </a:lnTo>
                  <a:lnTo>
                    <a:pt x="5029200" y="1546593"/>
                  </a:lnTo>
                  <a:lnTo>
                    <a:pt x="5029200" y="95262"/>
                  </a:lnTo>
                  <a:lnTo>
                    <a:pt x="5028844" y="87744"/>
                  </a:lnTo>
                  <a:lnTo>
                    <a:pt x="5027752" y="80391"/>
                  </a:lnTo>
                  <a:lnTo>
                    <a:pt x="5026698" y="76200"/>
                  </a:lnTo>
                  <a:lnTo>
                    <a:pt x="5029212" y="76200"/>
                  </a:lnTo>
                  <a:lnTo>
                    <a:pt x="5029212" y="1859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58150" y="37433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7D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0175" algn="ctr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2</a:t>
            </a: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pc="-50" dirty="0"/>
          </a:p>
          <a:p>
            <a:pPr marL="12700">
              <a:lnSpc>
                <a:spcPct val="100000"/>
              </a:lnSpc>
            </a:pPr>
            <a:r>
              <a:rPr sz="1650" spc="-10" dirty="0">
                <a:solidFill>
                  <a:srgbClr val="545759"/>
                </a:solidFill>
              </a:rPr>
              <a:t>STRATEGIC</a:t>
            </a:r>
            <a:r>
              <a:rPr sz="1650" spc="-190" dirty="0">
                <a:solidFill>
                  <a:srgbClr val="545759"/>
                </a:solidFill>
              </a:rPr>
              <a:t> </a:t>
            </a:r>
            <a:r>
              <a:rPr sz="1650" spc="-10" dirty="0">
                <a:solidFill>
                  <a:srgbClr val="545759"/>
                </a:solidFill>
              </a:rPr>
              <a:t>PARTNERSHIPS</a:t>
            </a:r>
            <a:endParaRPr sz="1650"/>
          </a:p>
          <a:p>
            <a:pPr marL="12700" marR="5080">
              <a:lnSpc>
                <a:spcPct val="129600"/>
              </a:lnSpc>
              <a:spcBef>
                <a:spcPts val="545"/>
              </a:spcBef>
            </a:pP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Collaborations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with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banks,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telecoms,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governments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accelerated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market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penetration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regulatory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approval</a:t>
            </a: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</a:pPr>
            <a:endParaRPr sz="1350">
              <a:latin typeface="Roboto Th"/>
              <a:cs typeface="Roboto Th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350">
              <a:latin typeface="Roboto Th"/>
              <a:cs typeface="Roboto Th"/>
            </a:endParaRPr>
          </a:p>
          <a:p>
            <a:pPr marL="130175" algn="ctr">
              <a:lnSpc>
                <a:spcPct val="100000"/>
              </a:lnSpc>
            </a:pPr>
            <a:r>
              <a:rPr dirty="0"/>
              <a:t>4</a:t>
            </a: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dirty="0"/>
          </a:p>
          <a:p>
            <a:pPr marL="12700">
              <a:lnSpc>
                <a:spcPct val="100000"/>
              </a:lnSpc>
            </a:pPr>
            <a:r>
              <a:rPr sz="1650" dirty="0">
                <a:solidFill>
                  <a:srgbClr val="545759"/>
                </a:solidFill>
              </a:rPr>
              <a:t>CAPITAL</a:t>
            </a:r>
            <a:r>
              <a:rPr sz="1650" spc="-105" dirty="0">
                <a:solidFill>
                  <a:srgbClr val="545759"/>
                </a:solidFill>
              </a:rPr>
              <a:t> </a:t>
            </a:r>
            <a:r>
              <a:rPr sz="1650" spc="-10" dirty="0">
                <a:solidFill>
                  <a:srgbClr val="545759"/>
                </a:solidFill>
              </a:rPr>
              <a:t>EFFICIENCY</a:t>
            </a:r>
            <a:endParaRPr sz="1650"/>
          </a:p>
          <a:p>
            <a:pPr marL="12700" marR="132715">
              <a:lnSpc>
                <a:spcPct val="134300"/>
              </a:lnSpc>
              <a:spcBef>
                <a:spcPts val="465"/>
              </a:spcBef>
            </a:pPr>
            <a:r>
              <a:rPr sz="1350" spc="-65" dirty="0">
                <a:solidFill>
                  <a:srgbClr val="545759"/>
                </a:solidFill>
                <a:latin typeface="Roboto Th"/>
                <a:cs typeface="Roboto Th"/>
              </a:rPr>
              <a:t>Asset-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light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Roboto Th"/>
                <a:cs typeface="Roboto Th"/>
              </a:rPr>
              <a:t>model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with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strategic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investments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in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technology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Roboto Th"/>
                <a:cs typeface="Roboto Th"/>
              </a:rPr>
              <a:t>rather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than</a:t>
            </a:r>
            <a:r>
              <a:rPr sz="1350" spc="-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physical</a:t>
            </a:r>
            <a:r>
              <a:rPr sz="1350" spc="-2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infrastructure</a:t>
            </a:r>
            <a:endParaRPr sz="1350">
              <a:latin typeface="Roboto Th"/>
              <a:cs typeface="Roboto 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44675"/>
            <a:ext cx="76815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CHALLENGES</a:t>
            </a:r>
            <a:r>
              <a:rPr spc="-484" dirty="0"/>
              <a:t> </a:t>
            </a:r>
            <a:r>
              <a:rPr spc="-35" dirty="0"/>
              <a:t>AND</a:t>
            </a:r>
            <a:r>
              <a:rPr spc="-484" dirty="0"/>
              <a:t> </a:t>
            </a:r>
            <a:r>
              <a:rPr spc="85" dirty="0"/>
              <a:t>RISK</a:t>
            </a:r>
            <a:r>
              <a:rPr spc="-484" dirty="0"/>
              <a:t> </a:t>
            </a:r>
            <a:r>
              <a:rPr spc="-80" dirty="0"/>
              <a:t>FACTORS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025" y="2733674"/>
            <a:ext cx="3314700" cy="1847850"/>
            <a:chOff x="581025" y="2733674"/>
            <a:chExt cx="3314700" cy="1847850"/>
          </a:xfrm>
        </p:grpSpPr>
        <p:sp>
          <p:nvSpPr>
            <p:cNvPr id="4" name="object 4"/>
            <p:cNvSpPr/>
            <p:nvPr/>
          </p:nvSpPr>
          <p:spPr>
            <a:xfrm>
              <a:off x="600075" y="27431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77501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762125"/>
                  </a:lnTo>
                  <a:lnTo>
                    <a:pt x="0" y="1766506"/>
                  </a:lnTo>
                  <a:lnTo>
                    <a:pt x="15622" y="1802803"/>
                  </a:lnTo>
                  <a:lnTo>
                    <a:pt x="51663" y="1825396"/>
                  </a:lnTo>
                  <a:lnTo>
                    <a:pt x="71194" y="1828800"/>
                  </a:lnTo>
                  <a:lnTo>
                    <a:pt x="3277501" y="1828800"/>
                  </a:lnTo>
                  <a:lnTo>
                    <a:pt x="3280308" y="1827631"/>
                  </a:lnTo>
                  <a:lnTo>
                    <a:pt x="3284969" y="1822983"/>
                  </a:lnTo>
                  <a:lnTo>
                    <a:pt x="3286125" y="1820176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1025" y="2733674"/>
              <a:ext cx="3314700" cy="1848485"/>
            </a:xfrm>
            <a:custGeom>
              <a:avLst/>
              <a:gdLst/>
              <a:ahLst/>
              <a:cxnLst/>
              <a:rect l="l" t="t" r="r" b="b"/>
              <a:pathLst>
                <a:path w="3314700" h="1848485">
                  <a:moveTo>
                    <a:pt x="3314687" y="15532"/>
                  </a:moveTo>
                  <a:lnTo>
                    <a:pt x="3312591" y="10477"/>
                  </a:lnTo>
                  <a:lnTo>
                    <a:pt x="3308883" y="6769"/>
                  </a:lnTo>
                  <a:lnTo>
                    <a:pt x="3308413" y="6286"/>
                  </a:lnTo>
                  <a:lnTo>
                    <a:pt x="3304222" y="2108"/>
                  </a:lnTo>
                  <a:lnTo>
                    <a:pt x="3299180" y="12"/>
                  </a:lnTo>
                  <a:lnTo>
                    <a:pt x="3295637" y="12"/>
                  </a:lnTo>
                  <a:lnTo>
                    <a:pt x="3295637" y="19862"/>
                  </a:lnTo>
                  <a:lnTo>
                    <a:pt x="3295637" y="1828025"/>
                  </a:lnTo>
                  <a:lnTo>
                    <a:pt x="3295243" y="1828419"/>
                  </a:lnTo>
                  <a:lnTo>
                    <a:pt x="3294850" y="1828812"/>
                  </a:lnTo>
                  <a:lnTo>
                    <a:pt x="95237" y="1828812"/>
                  </a:lnTo>
                  <a:lnTo>
                    <a:pt x="87731" y="1828533"/>
                  </a:lnTo>
                  <a:lnTo>
                    <a:pt x="80378" y="1827720"/>
                  </a:lnTo>
                  <a:lnTo>
                    <a:pt x="76200" y="18269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3294850" y="19062"/>
                  </a:lnTo>
                  <a:lnTo>
                    <a:pt x="3295561" y="19799"/>
                  </a:lnTo>
                  <a:lnTo>
                    <a:pt x="329563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826425"/>
                  </a:lnTo>
                  <a:lnTo>
                    <a:pt x="0" y="1829257"/>
                  </a:lnTo>
                  <a:lnTo>
                    <a:pt x="18580" y="1847850"/>
                  </a:lnTo>
                  <a:lnTo>
                    <a:pt x="76200" y="1847850"/>
                  </a:lnTo>
                  <a:lnTo>
                    <a:pt x="76200" y="1845360"/>
                  </a:lnTo>
                  <a:lnTo>
                    <a:pt x="80378" y="1846402"/>
                  </a:lnTo>
                  <a:lnTo>
                    <a:pt x="87731" y="1847494"/>
                  </a:lnTo>
                  <a:lnTo>
                    <a:pt x="95237" y="1847862"/>
                  </a:lnTo>
                  <a:lnTo>
                    <a:pt x="3299180" y="1847862"/>
                  </a:lnTo>
                  <a:lnTo>
                    <a:pt x="3304222" y="1845767"/>
                  </a:lnTo>
                  <a:lnTo>
                    <a:pt x="3308413" y="1841576"/>
                  </a:lnTo>
                  <a:lnTo>
                    <a:pt x="3308883" y="1841106"/>
                  </a:lnTo>
                  <a:lnTo>
                    <a:pt x="3312591" y="1837397"/>
                  </a:lnTo>
                  <a:lnTo>
                    <a:pt x="3314687" y="1832356"/>
                  </a:lnTo>
                  <a:lnTo>
                    <a:pt x="3314687" y="1553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5025" y="2897187"/>
            <a:ext cx="2779395" cy="14554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164590">
              <a:lnSpc>
                <a:spcPct val="109800"/>
              </a:lnSpc>
              <a:spcBef>
                <a:spcPts val="90"/>
              </a:spcBef>
            </a:pPr>
            <a:r>
              <a:rPr sz="1650" spc="-30" dirty="0">
                <a:solidFill>
                  <a:srgbClr val="545759"/>
                </a:solidFill>
                <a:latin typeface="Arial Black"/>
                <a:cs typeface="Arial Black"/>
              </a:rPr>
              <a:t>REGULATORY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COMPLEXITY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390"/>
              </a:spcBef>
            </a:pP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Navigating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different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regulations</a:t>
            </a:r>
            <a:r>
              <a:rPr sz="1350" spc="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across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8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countries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while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maintaining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operational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efficiency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compliance</a:t>
            </a:r>
            <a:endParaRPr sz="1350">
              <a:latin typeface="Roboto Th"/>
              <a:cs typeface="Roboto 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48125" y="2733674"/>
            <a:ext cx="3314700" cy="1847850"/>
            <a:chOff x="4048125" y="2733674"/>
            <a:chExt cx="3314700" cy="1847850"/>
          </a:xfrm>
        </p:grpSpPr>
        <p:sp>
          <p:nvSpPr>
            <p:cNvPr id="8" name="object 8"/>
            <p:cNvSpPr/>
            <p:nvPr/>
          </p:nvSpPr>
          <p:spPr>
            <a:xfrm>
              <a:off x="4067175" y="27431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7750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62125"/>
                  </a:lnTo>
                  <a:lnTo>
                    <a:pt x="0" y="1766506"/>
                  </a:lnTo>
                  <a:lnTo>
                    <a:pt x="15621" y="1802803"/>
                  </a:lnTo>
                  <a:lnTo>
                    <a:pt x="51663" y="1825396"/>
                  </a:lnTo>
                  <a:lnTo>
                    <a:pt x="71196" y="1828800"/>
                  </a:lnTo>
                  <a:lnTo>
                    <a:pt x="3277501" y="1828800"/>
                  </a:lnTo>
                  <a:lnTo>
                    <a:pt x="3280308" y="1827631"/>
                  </a:lnTo>
                  <a:lnTo>
                    <a:pt x="3284969" y="1822983"/>
                  </a:lnTo>
                  <a:lnTo>
                    <a:pt x="3286125" y="1820176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48125" y="2733674"/>
              <a:ext cx="3314700" cy="1848485"/>
            </a:xfrm>
            <a:custGeom>
              <a:avLst/>
              <a:gdLst/>
              <a:ahLst/>
              <a:cxnLst/>
              <a:rect l="l" t="t" r="r" b="b"/>
              <a:pathLst>
                <a:path w="3314700" h="1848485">
                  <a:moveTo>
                    <a:pt x="3314687" y="15532"/>
                  </a:moveTo>
                  <a:lnTo>
                    <a:pt x="3312591" y="10477"/>
                  </a:lnTo>
                  <a:lnTo>
                    <a:pt x="3308883" y="6769"/>
                  </a:lnTo>
                  <a:lnTo>
                    <a:pt x="3308413" y="6286"/>
                  </a:lnTo>
                  <a:lnTo>
                    <a:pt x="3304222" y="2108"/>
                  </a:lnTo>
                  <a:lnTo>
                    <a:pt x="3299180" y="12"/>
                  </a:lnTo>
                  <a:lnTo>
                    <a:pt x="3295637" y="12"/>
                  </a:lnTo>
                  <a:lnTo>
                    <a:pt x="3295637" y="19862"/>
                  </a:lnTo>
                  <a:lnTo>
                    <a:pt x="3295637" y="1828025"/>
                  </a:lnTo>
                  <a:lnTo>
                    <a:pt x="3295243" y="1828419"/>
                  </a:lnTo>
                  <a:lnTo>
                    <a:pt x="3294850" y="1828812"/>
                  </a:lnTo>
                  <a:lnTo>
                    <a:pt x="95237" y="1828812"/>
                  </a:lnTo>
                  <a:lnTo>
                    <a:pt x="87731" y="1828533"/>
                  </a:lnTo>
                  <a:lnTo>
                    <a:pt x="80378" y="1827720"/>
                  </a:lnTo>
                  <a:lnTo>
                    <a:pt x="76200" y="18269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3294850" y="19062"/>
                  </a:lnTo>
                  <a:lnTo>
                    <a:pt x="3295561" y="19799"/>
                  </a:lnTo>
                  <a:lnTo>
                    <a:pt x="329563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826425"/>
                  </a:lnTo>
                  <a:lnTo>
                    <a:pt x="0" y="1829257"/>
                  </a:lnTo>
                  <a:lnTo>
                    <a:pt x="18592" y="1847850"/>
                  </a:lnTo>
                  <a:lnTo>
                    <a:pt x="76200" y="1847850"/>
                  </a:lnTo>
                  <a:lnTo>
                    <a:pt x="76200" y="1845360"/>
                  </a:lnTo>
                  <a:lnTo>
                    <a:pt x="80378" y="1846402"/>
                  </a:lnTo>
                  <a:lnTo>
                    <a:pt x="87731" y="1847494"/>
                  </a:lnTo>
                  <a:lnTo>
                    <a:pt x="95237" y="1847862"/>
                  </a:lnTo>
                  <a:lnTo>
                    <a:pt x="3299180" y="1847862"/>
                  </a:lnTo>
                  <a:lnTo>
                    <a:pt x="3304222" y="1845767"/>
                  </a:lnTo>
                  <a:lnTo>
                    <a:pt x="3308413" y="1841576"/>
                  </a:lnTo>
                  <a:lnTo>
                    <a:pt x="3308883" y="1841106"/>
                  </a:lnTo>
                  <a:lnTo>
                    <a:pt x="3312591" y="1837397"/>
                  </a:lnTo>
                  <a:lnTo>
                    <a:pt x="3314687" y="1832356"/>
                  </a:lnTo>
                  <a:lnTo>
                    <a:pt x="3314687" y="1553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02125" y="2916237"/>
            <a:ext cx="286004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Arial Black"/>
                <a:cs typeface="Arial Black"/>
              </a:rPr>
              <a:t>INTENSE</a:t>
            </a:r>
            <a:r>
              <a:rPr sz="1650" spc="-17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50" dirty="0">
                <a:solidFill>
                  <a:srgbClr val="545759"/>
                </a:solidFill>
                <a:latin typeface="Arial Black"/>
                <a:cs typeface="Arial Black"/>
              </a:rPr>
              <a:t>COMPETITION</a:t>
            </a:r>
            <a:endParaRPr sz="1650">
              <a:latin typeface="Arial Black"/>
              <a:cs typeface="Arial Black"/>
            </a:endParaRPr>
          </a:p>
          <a:p>
            <a:pPr marL="12700" marR="185420" algn="just">
              <a:lnSpc>
                <a:spcPct val="134300"/>
              </a:lnSpc>
              <a:spcBef>
                <a:spcPts val="465"/>
              </a:spcBef>
            </a:pP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Facing</a:t>
            </a:r>
            <a:r>
              <a:rPr sz="1350" spc="-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Roboto Th"/>
                <a:cs typeface="Roboto Th"/>
              </a:rPr>
              <a:t>local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competitors</a:t>
            </a:r>
            <a:r>
              <a:rPr sz="1350" spc="-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like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Gojek</a:t>
            </a:r>
            <a:r>
              <a:rPr sz="1350" spc="-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and 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global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players</a:t>
            </a:r>
            <a:r>
              <a:rPr sz="1350" spc="-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entering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ASEAN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markets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with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substantial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funding</a:t>
            </a:r>
            <a:endParaRPr sz="1350">
              <a:latin typeface="Roboto Th"/>
              <a:cs typeface="Roboto 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15225" y="2733674"/>
            <a:ext cx="3314700" cy="1847850"/>
            <a:chOff x="7515225" y="2733674"/>
            <a:chExt cx="3314700" cy="1847850"/>
          </a:xfrm>
        </p:grpSpPr>
        <p:sp>
          <p:nvSpPr>
            <p:cNvPr id="12" name="object 12"/>
            <p:cNvSpPr/>
            <p:nvPr/>
          </p:nvSpPr>
          <p:spPr>
            <a:xfrm>
              <a:off x="7534275" y="27431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7750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62125"/>
                  </a:lnTo>
                  <a:lnTo>
                    <a:pt x="0" y="1766506"/>
                  </a:lnTo>
                  <a:lnTo>
                    <a:pt x="15621" y="1802803"/>
                  </a:lnTo>
                  <a:lnTo>
                    <a:pt x="51663" y="1825396"/>
                  </a:lnTo>
                  <a:lnTo>
                    <a:pt x="71196" y="1828800"/>
                  </a:lnTo>
                  <a:lnTo>
                    <a:pt x="3277501" y="1828800"/>
                  </a:lnTo>
                  <a:lnTo>
                    <a:pt x="3280308" y="1827631"/>
                  </a:lnTo>
                  <a:lnTo>
                    <a:pt x="3284956" y="1822983"/>
                  </a:lnTo>
                  <a:lnTo>
                    <a:pt x="3286125" y="1820176"/>
                  </a:lnTo>
                  <a:lnTo>
                    <a:pt x="3286125" y="8623"/>
                  </a:lnTo>
                  <a:lnTo>
                    <a:pt x="3284956" y="5803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15225" y="2733674"/>
              <a:ext cx="3314700" cy="1848485"/>
            </a:xfrm>
            <a:custGeom>
              <a:avLst/>
              <a:gdLst/>
              <a:ahLst/>
              <a:cxnLst/>
              <a:rect l="l" t="t" r="r" b="b"/>
              <a:pathLst>
                <a:path w="3314700" h="1848485">
                  <a:moveTo>
                    <a:pt x="3314687" y="15532"/>
                  </a:moveTo>
                  <a:lnTo>
                    <a:pt x="3312591" y="10477"/>
                  </a:lnTo>
                  <a:lnTo>
                    <a:pt x="3308883" y="6769"/>
                  </a:lnTo>
                  <a:lnTo>
                    <a:pt x="3308413" y="6286"/>
                  </a:lnTo>
                  <a:lnTo>
                    <a:pt x="3304222" y="2108"/>
                  </a:lnTo>
                  <a:lnTo>
                    <a:pt x="3299180" y="12"/>
                  </a:lnTo>
                  <a:lnTo>
                    <a:pt x="3295637" y="12"/>
                  </a:lnTo>
                  <a:lnTo>
                    <a:pt x="3295637" y="19862"/>
                  </a:lnTo>
                  <a:lnTo>
                    <a:pt x="3295637" y="1828025"/>
                  </a:lnTo>
                  <a:lnTo>
                    <a:pt x="3295243" y="1828419"/>
                  </a:lnTo>
                  <a:lnTo>
                    <a:pt x="3294850" y="1828812"/>
                  </a:lnTo>
                  <a:lnTo>
                    <a:pt x="95237" y="1828812"/>
                  </a:lnTo>
                  <a:lnTo>
                    <a:pt x="87731" y="1828533"/>
                  </a:lnTo>
                  <a:lnTo>
                    <a:pt x="80378" y="1827720"/>
                  </a:lnTo>
                  <a:lnTo>
                    <a:pt x="76200" y="18269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3294850" y="19062"/>
                  </a:lnTo>
                  <a:lnTo>
                    <a:pt x="3295561" y="19799"/>
                  </a:lnTo>
                  <a:lnTo>
                    <a:pt x="3295637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826425"/>
                  </a:lnTo>
                  <a:lnTo>
                    <a:pt x="0" y="1829257"/>
                  </a:lnTo>
                  <a:lnTo>
                    <a:pt x="18592" y="1847850"/>
                  </a:lnTo>
                  <a:lnTo>
                    <a:pt x="76200" y="1847850"/>
                  </a:lnTo>
                  <a:lnTo>
                    <a:pt x="76200" y="1845360"/>
                  </a:lnTo>
                  <a:lnTo>
                    <a:pt x="80378" y="1846402"/>
                  </a:lnTo>
                  <a:lnTo>
                    <a:pt x="87731" y="1847494"/>
                  </a:lnTo>
                  <a:lnTo>
                    <a:pt x="95237" y="1847862"/>
                  </a:lnTo>
                  <a:lnTo>
                    <a:pt x="3299180" y="1847862"/>
                  </a:lnTo>
                  <a:lnTo>
                    <a:pt x="3304222" y="1845767"/>
                  </a:lnTo>
                  <a:lnTo>
                    <a:pt x="3308413" y="1841576"/>
                  </a:lnTo>
                  <a:lnTo>
                    <a:pt x="3308883" y="1841106"/>
                  </a:lnTo>
                  <a:lnTo>
                    <a:pt x="3312591" y="1837397"/>
                  </a:lnTo>
                  <a:lnTo>
                    <a:pt x="3314687" y="1832356"/>
                  </a:lnTo>
                  <a:lnTo>
                    <a:pt x="3314687" y="15532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69225" y="2897187"/>
            <a:ext cx="2823845" cy="14554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78840">
              <a:lnSpc>
                <a:spcPct val="109800"/>
              </a:lnSpc>
              <a:spcBef>
                <a:spcPts val="90"/>
              </a:spcBef>
            </a:pPr>
            <a:r>
              <a:rPr sz="1650" spc="55" dirty="0">
                <a:solidFill>
                  <a:srgbClr val="545759"/>
                </a:solidFill>
                <a:latin typeface="Arial Black"/>
                <a:cs typeface="Arial Black"/>
              </a:rPr>
              <a:t>PROFITABILITY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PRESSURE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390"/>
              </a:spcBef>
            </a:pP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Balancing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growth</a:t>
            </a:r>
            <a:r>
              <a:rPr sz="1350" spc="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investments</a:t>
            </a:r>
            <a:r>
              <a:rPr sz="1350" spc="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with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investor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expectations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for</a:t>
            </a:r>
            <a:r>
              <a:rPr sz="1350" spc="-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sustainable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 unit </a:t>
            </a:r>
            <a:r>
              <a:rPr sz="1350" spc="-85" dirty="0">
                <a:solidFill>
                  <a:srgbClr val="545759"/>
                </a:solidFill>
                <a:latin typeface="Roboto Th"/>
                <a:cs typeface="Roboto Th"/>
              </a:rPr>
              <a:t>economics</a:t>
            </a:r>
            <a:r>
              <a:rPr sz="1350" spc="2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across</a:t>
            </a:r>
            <a:r>
              <a:rPr sz="1350" spc="2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all</a:t>
            </a:r>
            <a:r>
              <a:rPr sz="1350" spc="2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verticals</a:t>
            </a:r>
            <a:endParaRPr sz="1350">
              <a:latin typeface="Roboto Th"/>
              <a:cs typeface="Roboto 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235075"/>
            <a:ext cx="843661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/>
              <a:t>STRATEGIC</a:t>
            </a:r>
            <a:r>
              <a:rPr spc="-490" dirty="0"/>
              <a:t> </a:t>
            </a:r>
            <a:r>
              <a:rPr spc="-130" dirty="0"/>
              <a:t>LESSONS</a:t>
            </a:r>
            <a:r>
              <a:rPr spc="-484" dirty="0"/>
              <a:t> </a:t>
            </a:r>
            <a:r>
              <a:rPr spc="-120" dirty="0"/>
              <a:t>FOR</a:t>
            </a:r>
            <a:r>
              <a:rPr spc="-484" dirty="0"/>
              <a:t> </a:t>
            </a:r>
            <a:r>
              <a:rPr spc="-95" dirty="0"/>
              <a:t>STARTUPS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630" y="2111375"/>
            <a:ext cx="1987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545759"/>
                </a:solidFill>
                <a:latin typeface="Arial MT"/>
                <a:cs typeface="Arial MT"/>
              </a:rPr>
              <a:t>01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2400299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C8CA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5" y="2516187"/>
            <a:ext cx="433070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545759"/>
                </a:solidFill>
                <a:latin typeface="Arial Black"/>
                <a:cs typeface="Arial Black"/>
              </a:rPr>
              <a:t>START</a:t>
            </a:r>
            <a:r>
              <a:rPr sz="1650" spc="-22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60" dirty="0">
                <a:solidFill>
                  <a:srgbClr val="545759"/>
                </a:solidFill>
                <a:latin typeface="Arial Black"/>
                <a:cs typeface="Arial Black"/>
              </a:rPr>
              <a:t>FOCUSED,</a:t>
            </a:r>
            <a:r>
              <a:rPr sz="1650" spc="-21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60" dirty="0">
                <a:solidFill>
                  <a:srgbClr val="545759"/>
                </a:solidFill>
                <a:latin typeface="Arial Black"/>
                <a:cs typeface="Arial Black"/>
              </a:rPr>
              <a:t>THEN</a:t>
            </a:r>
            <a:r>
              <a:rPr sz="1650" spc="-21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EXPAND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Master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one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core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service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before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adding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Roboto Th"/>
                <a:cs typeface="Roboto Th"/>
              </a:rPr>
              <a:t>adjacent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offerings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10" dirty="0">
                <a:solidFill>
                  <a:srgbClr val="545759"/>
                </a:solidFill>
                <a:latin typeface="Roboto Th"/>
                <a:cs typeface="Roboto Th"/>
              </a:rPr>
              <a:t>-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Grab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dominated</a:t>
            </a:r>
            <a:r>
              <a:rPr sz="1350" spc="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ride-hailing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before</a:t>
            </a:r>
            <a:r>
              <a:rPr sz="1350" spc="1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diversifying</a:t>
            </a:r>
            <a:endParaRPr sz="1350">
              <a:latin typeface="Roboto Th"/>
              <a:cs typeface="Roboto 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5546" y="2111375"/>
            <a:ext cx="2419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0" dirty="0">
                <a:solidFill>
                  <a:srgbClr val="545759"/>
                </a:solidFill>
                <a:latin typeface="Arial MT"/>
                <a:cs typeface="Arial MT"/>
              </a:rPr>
              <a:t>02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00725" y="2400299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C8CA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88025" y="2516187"/>
            <a:ext cx="495427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55" dirty="0">
                <a:solidFill>
                  <a:srgbClr val="545759"/>
                </a:solidFill>
                <a:latin typeface="Arial Black"/>
                <a:cs typeface="Arial Black"/>
              </a:rPr>
              <a:t>LEVERAGE</a:t>
            </a:r>
            <a:r>
              <a:rPr sz="1650" spc="-2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30" dirty="0">
                <a:solidFill>
                  <a:srgbClr val="545759"/>
                </a:solidFill>
                <a:latin typeface="Arial Black"/>
                <a:cs typeface="Arial Black"/>
              </a:rPr>
              <a:t>NETWORK</a:t>
            </a:r>
            <a:r>
              <a:rPr sz="1650" spc="-2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EFFECTS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Design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services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that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reinforce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each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Roboto Th"/>
                <a:cs typeface="Roboto Th"/>
              </a:rPr>
              <a:t>other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10" dirty="0">
                <a:solidFill>
                  <a:srgbClr val="545759"/>
                </a:solidFill>
                <a:latin typeface="Roboto Th"/>
                <a:cs typeface="Roboto Th"/>
              </a:rPr>
              <a:t>-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shared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driver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network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reduces </a:t>
            </a:r>
            <a:r>
              <a:rPr sz="1350" spc="-65" dirty="0">
                <a:solidFill>
                  <a:srgbClr val="545759"/>
                </a:solidFill>
                <a:latin typeface="Roboto Th"/>
                <a:cs typeface="Roboto Th"/>
              </a:rPr>
              <a:t>costs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across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Roboto Th"/>
                <a:cs typeface="Roboto Th"/>
              </a:rPr>
              <a:t>multiple</a:t>
            </a:r>
            <a:r>
              <a:rPr sz="1350" spc="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verticals</a:t>
            </a:r>
            <a:endParaRPr sz="1350">
              <a:latin typeface="Roboto Th"/>
              <a:cs typeface="Roboto 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159" y="3730625"/>
            <a:ext cx="2438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0" dirty="0">
                <a:solidFill>
                  <a:srgbClr val="545759"/>
                </a:solidFill>
                <a:latin typeface="Arial MT"/>
                <a:cs typeface="Arial MT"/>
              </a:rPr>
              <a:t>03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0075" y="401955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C8CA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7375" y="4135437"/>
            <a:ext cx="477266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Arial Black"/>
                <a:cs typeface="Arial Black"/>
              </a:rPr>
              <a:t>INVEST</a:t>
            </a:r>
            <a:r>
              <a:rPr sz="1650" spc="-16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180" dirty="0">
                <a:solidFill>
                  <a:srgbClr val="545759"/>
                </a:solidFill>
                <a:latin typeface="Arial Black"/>
                <a:cs typeface="Arial Black"/>
              </a:rPr>
              <a:t>IN</a:t>
            </a:r>
            <a:r>
              <a:rPr sz="1650" spc="-15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50" dirty="0">
                <a:solidFill>
                  <a:srgbClr val="545759"/>
                </a:solidFill>
                <a:latin typeface="Arial Black"/>
                <a:cs typeface="Arial Black"/>
              </a:rPr>
              <a:t>LOCAL</a:t>
            </a:r>
            <a:r>
              <a:rPr sz="1650" spc="-16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ADAPTATION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65" dirty="0">
                <a:solidFill>
                  <a:srgbClr val="545759"/>
                </a:solidFill>
                <a:latin typeface="Roboto Th"/>
                <a:cs typeface="Roboto Th"/>
              </a:rPr>
              <a:t>Generic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solutions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fail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dirty="0">
                <a:solidFill>
                  <a:srgbClr val="545759"/>
                </a:solidFill>
                <a:latin typeface="Roboto Th"/>
                <a:cs typeface="Roboto Th"/>
              </a:rPr>
              <a:t>in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diverse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markets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10" dirty="0">
                <a:solidFill>
                  <a:srgbClr val="545759"/>
                </a:solidFill>
                <a:latin typeface="Roboto Th"/>
                <a:cs typeface="Roboto Th"/>
              </a:rPr>
              <a:t>-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customize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Roboto Th"/>
                <a:cs typeface="Roboto Th"/>
              </a:rPr>
              <a:t>for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Roboto Th"/>
                <a:cs typeface="Roboto Th"/>
              </a:rPr>
              <a:t>local</a:t>
            </a:r>
            <a:r>
              <a:rPr sz="1350" spc="-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payment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methods,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regulations,</a:t>
            </a:r>
            <a:r>
              <a:rPr sz="1350" spc="2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2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behaviors</a:t>
            </a:r>
            <a:endParaRPr sz="1350">
              <a:latin typeface="Roboto Th"/>
              <a:cs typeface="Roboto 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59742" y="3730625"/>
            <a:ext cx="2540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4" dirty="0">
                <a:solidFill>
                  <a:srgbClr val="545759"/>
                </a:solidFill>
                <a:latin typeface="Arial MT"/>
                <a:cs typeface="Arial MT"/>
              </a:rPr>
              <a:t>04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00725" y="401955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C8CA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88025" y="4135437"/>
            <a:ext cx="490347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Arial Black"/>
                <a:cs typeface="Arial Black"/>
              </a:rPr>
              <a:t>BUILD</a:t>
            </a:r>
            <a:r>
              <a:rPr sz="1650" spc="-15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Arial Black"/>
                <a:cs typeface="Arial Black"/>
              </a:rPr>
              <a:t>STRATEGIC</a:t>
            </a:r>
            <a:r>
              <a:rPr sz="1650" spc="-15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650" spc="-20" dirty="0">
                <a:solidFill>
                  <a:srgbClr val="545759"/>
                </a:solidFill>
                <a:latin typeface="Arial Black"/>
                <a:cs typeface="Arial Black"/>
              </a:rPr>
              <a:t>MOATS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Create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Roboto Th"/>
                <a:cs typeface="Roboto Th"/>
              </a:rPr>
              <a:t>defensible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Roboto Th"/>
                <a:cs typeface="Roboto Th"/>
              </a:rPr>
              <a:t>advantages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Roboto Th"/>
                <a:cs typeface="Roboto Th"/>
              </a:rPr>
              <a:t>through</a:t>
            </a:r>
            <a:r>
              <a:rPr sz="1350" spc="10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data,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Roboto Th"/>
                <a:cs typeface="Roboto Th"/>
              </a:rPr>
              <a:t>partnerships,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Roboto Th"/>
                <a:cs typeface="Roboto Th"/>
              </a:rPr>
              <a:t>and</a:t>
            </a:r>
            <a:r>
              <a:rPr sz="1350" spc="5" dirty="0">
                <a:solidFill>
                  <a:srgbClr val="545759"/>
                </a:solidFill>
                <a:latin typeface="Roboto Th"/>
                <a:cs typeface="Roboto Th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Roboto Th"/>
                <a:cs typeface="Roboto Th"/>
              </a:rPr>
              <a:t>integrated </a:t>
            </a:r>
            <a:r>
              <a:rPr sz="1350" spc="-65" dirty="0">
                <a:solidFill>
                  <a:srgbClr val="545759"/>
                </a:solidFill>
                <a:latin typeface="Roboto Th"/>
                <a:cs typeface="Roboto Th"/>
              </a:rPr>
              <a:t>user</a:t>
            </a:r>
            <a:r>
              <a:rPr sz="1350" spc="-10" dirty="0">
                <a:solidFill>
                  <a:srgbClr val="545759"/>
                </a:solidFill>
                <a:latin typeface="Roboto Th"/>
                <a:cs typeface="Roboto Th"/>
              </a:rPr>
              <a:t> experiences</a:t>
            </a:r>
            <a:endParaRPr sz="1350">
              <a:latin typeface="Roboto Th"/>
              <a:cs typeface="Roboto 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CEA3-692C-F038-FBB0-25213B78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20AE5-476B-3BC4-B92B-DFC363843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6600" y="2917825"/>
            <a:ext cx="5337809" cy="830997"/>
          </a:xfrm>
        </p:spPr>
        <p:txBody>
          <a:bodyPr/>
          <a:lstStyle/>
          <a:p>
            <a:r>
              <a:rPr lang="en-MY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4148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331</Words>
  <Application>Microsoft Office PowerPoint</Application>
  <PresentationFormat>Custom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MT</vt:lpstr>
      <vt:lpstr>Roboto Th</vt:lpstr>
      <vt:lpstr>Arial Black</vt:lpstr>
      <vt:lpstr>Office Theme</vt:lpstr>
      <vt:lpstr>PowerPoint Presentation</vt:lpstr>
      <vt:lpstr>THE SUPER-APP BUSINESS MODEL</vt:lpstr>
      <vt:lpstr>TECHNOLOGY-DRIVEN RAPID GROWTH</vt:lpstr>
      <vt:lpstr>KEY SUCCESS FACTORS</vt:lpstr>
      <vt:lpstr>CHALLENGES AND RISK FACTORS</vt:lpstr>
      <vt:lpstr>STRATEGIC LESSONS FOR STARTUPS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chan yu heng</cp:lastModifiedBy>
  <cp:revision>2</cp:revision>
  <dcterms:created xsi:type="dcterms:W3CDTF">2025-09-26T06:59:02Z</dcterms:created>
  <dcterms:modified xsi:type="dcterms:W3CDTF">2025-09-26T07:09:21Z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2025-09-26T00:00:00Z</vt:filetime>
  </property>
  <property fmtid="{D5CDD505-2E9C-101B-9397-08002B2CF9AE}" pid="5" name="Producer">
    <vt:lpwstr>GPL Ghostscript 9.56.1</vt:lpwstr>
  </property>
</Properties>
</file>