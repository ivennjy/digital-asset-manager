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6"/>
  </p:notesMasterIdLst>
  <p:handoutMasterIdLst>
    <p:handoutMasterId r:id="rId27"/>
  </p:handoutMasterIdLst>
  <p:sldIdLst>
    <p:sldId id="256" r:id="rId5"/>
    <p:sldId id="287" r:id="rId6"/>
    <p:sldId id="286" r:id="rId7"/>
    <p:sldId id="288" r:id="rId8"/>
    <p:sldId id="258" r:id="rId9"/>
    <p:sldId id="289" r:id="rId10"/>
    <p:sldId id="292" r:id="rId11"/>
    <p:sldId id="290" r:id="rId12"/>
    <p:sldId id="293" r:id="rId13"/>
    <p:sldId id="291" r:id="rId14"/>
    <p:sldId id="294" r:id="rId15"/>
    <p:sldId id="295" r:id="rId16"/>
    <p:sldId id="297" r:id="rId17"/>
    <p:sldId id="298" r:id="rId18"/>
    <p:sldId id="299" r:id="rId19"/>
    <p:sldId id="300" r:id="rId20"/>
    <p:sldId id="301" r:id="rId21"/>
    <p:sldId id="302" r:id="rId22"/>
    <p:sldId id="303" r:id="rId23"/>
    <p:sldId id="304" r:id="rId24"/>
    <p:sldId id="305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655" autoAdjust="0"/>
  </p:normalViewPr>
  <p:slideViewPr>
    <p:cSldViewPr snapToGrid="0">
      <p:cViewPr varScale="1">
        <p:scale>
          <a:sx n="57" d="100"/>
          <a:sy n="57" d="100"/>
        </p:scale>
        <p:origin x="1016" y="44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10/29/2024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10/29/2024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90830-F091-4818-BA4A-ED69886DA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9A9DA6-07DD-AF02-5033-A9887BA3FF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C47F73-1FB3-E59A-F45A-10195F4792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F33613-338B-38B7-1BF0-019FB96616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93925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ED9A2-60E7-3231-65C7-205980A65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176E6C-ACEB-C136-1245-761D59033D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381770-FD38-F582-2124-98278348F8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59ACDB-8FE6-70F9-C099-B47ED36239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56548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6775B-5CA3-9D9F-603E-D7C71C01F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02B21D-58E3-8504-F14C-4B1C7AD1C1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477FE1-E6BD-4DA5-7A72-7FD4FDF340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09F10E-652B-2161-DF43-9D715C37EB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76119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09635-7E83-7ED2-740D-54F203607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7E59EE-0E0D-7DBF-556A-5D2CD5A562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F7CB8B-8BC9-15C0-783D-679A16E22B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7DBFD2-399E-1EF9-00B7-05465FB6B2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47903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89A75-4FDF-B64D-53C2-059089562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E811E7-AA8B-D736-841A-F5B4C068EC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CBF944-835F-0D6C-6DB0-19B04D847A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014F92-5E66-D384-AF0B-E0D3415E3A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6387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B1283-0E62-241C-8234-96B2E75A2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A64888-2BDA-E53F-795F-E0BCF26E1C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B3E2E6-84D0-B272-6498-E11BB0078D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F5D3AB-4187-BDEB-3501-2605506966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63591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ED2BD-25A9-4B08-398A-421F81E86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3C1DA0-4CAC-A338-667E-FDB60B2689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1D4725-C91B-F7AA-3BC9-7A66770995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6D94C7-F9DC-F3A8-99DC-9337EAE8D5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84740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818D0-EC38-E22F-0A78-1580F8732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6B7955-EFB5-7281-5489-732BEF1C06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FED979-86CC-C688-7A6F-5CD947E273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228F22-32D9-D26F-3F54-5D307A58CF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23552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C0B0C-4CF5-2036-C49A-AA417FD90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C88B9B-71D5-A8F7-7FC5-E31123216D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3034DD-34E8-FC69-E9CD-F95A8343EC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C4C5D8-A0F4-1309-EB03-00DD4C606E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20191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70882-66CF-BEBD-EA86-DB1EE393F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020803-9E1A-9E94-02B9-6CAC9686DF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CF71B5-6B1F-2865-FCF8-69F60A9C53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8EF717-F783-AA42-9440-425C9F5A5A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62989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566FF-9ED1-A7DB-930C-326435A99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E5B6B7-C78B-A4E5-1F8B-62EB6A179E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990097-FDE0-3BA9-2FDF-CDF8813CD4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68AFCB-B8E6-7BE4-0A7A-17F947ABC9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8045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91DA5-BDFF-FEA7-12DA-579BF000D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D76597-E797-B2D4-4CCD-691CB702B1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7AD162-84B8-E7F0-FBE7-CD8F0567B6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25DB10-3B64-D4D9-D4B7-0B998B05C8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70365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44C08-3AF2-DAA5-A63F-F3D4DD600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4C421B-3F71-BB01-7CFF-7A7A5E60B0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D96D71-3BBF-4F89-3FE3-52C48D9DD2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7A6D9F-4373-1445-E2D3-8E771259B8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92740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C08D9-DCE5-E16F-7CEE-1EEEBD417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3F8546-2880-C7D9-7AD6-BF4E6E4361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CF2502-10AF-CBA9-CBA9-E3F224FB8D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1EC305-6F3F-13DF-9C6E-D858BE99A6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2873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86F89-4E25-F079-0BA4-7ACFDE883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74E863-FBA8-E836-0DF3-8616DEF5CA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971442-B107-9486-5363-60DDBE2C34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C4ABE8-777E-23E2-0F14-0CCEFB7C9C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0365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897F3-041D-7001-613E-B392F618B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33D167-9581-7A92-71D0-F23E50637B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B01724-389F-6EC2-FFFC-1A14506317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37A8EE-FCC5-7727-B381-B4AF5297CF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08523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41918" y="3329790"/>
            <a:ext cx="4941771" cy="3200400"/>
          </a:xfrm>
        </p:spPr>
        <p:txBody>
          <a:bodyPr anchor="ctr"/>
          <a:lstStyle/>
          <a:p>
            <a:r>
              <a:rPr lang="en-US" dirty="0"/>
              <a:t>Design pattern</a:t>
            </a:r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F05B8-EB9A-2C8A-A862-459A1B59E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4983F-9BCD-2D15-1ED6-F13934C8D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/>
          <a:lstStyle/>
          <a:p>
            <a:r>
              <a:rPr lang="en-US" dirty="0"/>
              <a:t>Design pattern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8E671F-7C46-50EB-5C9B-FA979F656A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/>
          <a:p>
            <a:pPr lvl="1"/>
            <a:r>
              <a:rPr lang="en-US" dirty="0"/>
              <a:t>A software design pattern is a general, reusable solution to a common problem in software design.</a:t>
            </a:r>
          </a:p>
          <a:p>
            <a:pPr lvl="1"/>
            <a:r>
              <a:rPr lang="en-US" dirty="0"/>
              <a:t>It’s not a finished design that can be transformed directly into code; rather, it’s a template for solving a specific design issue that occurs frequently in software development.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74D8499-B9CD-F36B-BB95-5EBCC0613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051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8F4FA-E40C-5EB1-CD65-55A98A7D9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EAEAC-F5AC-A700-5B8D-E40F0DEBF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/>
          <a:lstStyle/>
          <a:p>
            <a:r>
              <a:rPr lang="en-US" dirty="0"/>
              <a:t>Design pattern examples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DD6EB53-3D0C-9E80-ABCB-9BA5519E1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A26F61-2004-8D4B-0DD1-56FA0C7EC0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9926" y="2920651"/>
            <a:ext cx="5334000" cy="309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393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BAEBB-E3FF-8DE1-E7A6-06CBD201D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D6DBC-FC98-5B4F-30FA-D9409FBDA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/>
          <a:lstStyle/>
          <a:p>
            <a:r>
              <a:rPr lang="en-US" dirty="0"/>
              <a:t>Design pattern examples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FE31C89-2E31-7F36-51BE-D0D2FE3A7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028" name="Picture 4" descr="Template Pattern UML Diagram">
            <a:extLst>
              <a:ext uri="{FF2B5EF4-FFF2-40B4-BE49-F238E27FC236}">
                <a16:creationId xmlns:a16="http://schemas.microsoft.com/office/drawing/2014/main" id="{167E0DF6-E214-EE11-C8F9-5825B52C3F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2318" y="2605204"/>
            <a:ext cx="5334000" cy="3543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4794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/>
          <a:lstStyle/>
          <a:p>
            <a:r>
              <a:rPr lang="en-US" dirty="0"/>
              <a:t>History of Design pattern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/>
          <a:p>
            <a:pPr lvl="1"/>
            <a:r>
              <a:rPr lang="en-US" dirty="0"/>
              <a:t>The concept of software design patterns was popularized by </a:t>
            </a:r>
            <a:r>
              <a:rPr lang="en-US" b="1" dirty="0"/>
              <a:t>Erich Gamma</a:t>
            </a:r>
            <a:r>
              <a:rPr lang="en-US" dirty="0"/>
              <a:t>, </a:t>
            </a:r>
            <a:r>
              <a:rPr lang="en-US" b="1" dirty="0"/>
              <a:t>Richard Helm</a:t>
            </a:r>
            <a:r>
              <a:rPr lang="en-US" dirty="0"/>
              <a:t>, </a:t>
            </a:r>
            <a:r>
              <a:rPr lang="en-US" b="1" dirty="0"/>
              <a:t>Ralph Johnson</a:t>
            </a:r>
            <a:r>
              <a:rPr lang="en-US" dirty="0"/>
              <a:t>, and </a:t>
            </a:r>
            <a:r>
              <a:rPr lang="en-US" b="1" dirty="0"/>
              <a:t>John </a:t>
            </a:r>
            <a:r>
              <a:rPr lang="en-US" b="1" dirty="0" err="1"/>
              <a:t>Vlissides</a:t>
            </a:r>
            <a:r>
              <a:rPr lang="en-US" dirty="0"/>
              <a:t>, collectively known as the "Gang of Four" (</a:t>
            </a:r>
            <a:r>
              <a:rPr lang="en-US" dirty="0" err="1"/>
              <a:t>GoF</a:t>
            </a:r>
            <a:r>
              <a:rPr lang="en-US" dirty="0"/>
              <a:t>).</a:t>
            </a:r>
          </a:p>
          <a:p>
            <a:pPr lvl="1"/>
            <a:r>
              <a:rPr lang="en-US" dirty="0"/>
              <a:t>They published the seminal book </a:t>
            </a:r>
            <a:r>
              <a:rPr lang="en-US" i="1" dirty="0"/>
              <a:t>"Design Patterns: Elements of Reusable Object-Oriented Software"</a:t>
            </a:r>
            <a:r>
              <a:rPr lang="en-US" dirty="0"/>
              <a:t> in 1994, which documented 23 foundational patterns for object-oriented programming.</a:t>
            </a:r>
          </a:p>
          <a:p>
            <a:pPr lvl="1"/>
            <a:r>
              <a:rPr lang="en-US" dirty="0"/>
              <a:t>These patterns addressed recurring design issues in software development, providing standardized, reusable solutions for building robust and efficient systems.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527C8-BE89-68FB-7A7F-2C3113D2C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D169F-F186-FEA7-6A72-56693F94A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/>
          <a:lstStyle/>
          <a:p>
            <a:r>
              <a:rPr lang="en-US" dirty="0"/>
              <a:t>Creational Patterns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B18AFF-E397-3738-CAC8-F32690308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/>
          <a:p>
            <a:pPr lvl="1"/>
            <a:r>
              <a:rPr lang="en-US" dirty="0"/>
              <a:t>Focus on object creation mechanisms. These patterns help manage how objects are created, ensuring they are suitable for the given situation.</a:t>
            </a:r>
          </a:p>
          <a:p>
            <a:pPr lvl="1"/>
            <a:r>
              <a:rPr lang="en-US" dirty="0"/>
              <a:t>Examples: </a:t>
            </a:r>
            <a:r>
              <a:rPr lang="en-US" i="1" dirty="0"/>
              <a:t>Singleton</a:t>
            </a:r>
            <a:r>
              <a:rPr lang="en-US" dirty="0"/>
              <a:t>, </a:t>
            </a:r>
            <a:r>
              <a:rPr lang="en-US" i="1" dirty="0"/>
              <a:t>Factory Method</a:t>
            </a:r>
            <a:r>
              <a:rPr lang="en-US" dirty="0"/>
              <a:t>, </a:t>
            </a:r>
            <a:r>
              <a:rPr lang="en-US" i="1" dirty="0"/>
              <a:t>Abstract Factory</a:t>
            </a:r>
            <a:r>
              <a:rPr lang="en-US" dirty="0"/>
              <a:t>, </a:t>
            </a:r>
            <a:r>
              <a:rPr lang="en-US" i="1" dirty="0"/>
              <a:t>Builder</a:t>
            </a:r>
            <a:r>
              <a:rPr lang="en-US" dirty="0"/>
              <a:t>, </a:t>
            </a:r>
            <a:r>
              <a:rPr lang="en-US" i="1" dirty="0"/>
              <a:t>Prototype</a:t>
            </a:r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8084B923-2444-98FE-9BF0-5697F8E82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912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8D0B0-0CA8-F86E-3342-9B44256FB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4B5AB38-A822-A56A-3F44-44D521D93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FA272A-3246-A14A-3695-343F8281A9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476" y="1396573"/>
            <a:ext cx="7629525" cy="381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324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4F16F-97AD-046A-9A1F-4645E5370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50ECB-DEC4-9FF6-185F-A14FE5DB7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/>
          <a:lstStyle/>
          <a:p>
            <a:r>
              <a:rPr lang="en-US" dirty="0"/>
              <a:t>Structural Patterns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3B8145-745F-B930-DAC5-97BBEF7D5F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/>
          <a:p>
            <a:pPr lvl="1"/>
            <a:r>
              <a:rPr lang="en-US" dirty="0"/>
              <a:t>Deal with object composition and relationships, helping organize classes and objects to form larger structures.</a:t>
            </a:r>
          </a:p>
          <a:p>
            <a:pPr lvl="1"/>
            <a:r>
              <a:rPr lang="en-US" dirty="0"/>
              <a:t>Examples: </a:t>
            </a:r>
            <a:r>
              <a:rPr lang="en-US" i="1" dirty="0"/>
              <a:t>Adapter</a:t>
            </a:r>
            <a:r>
              <a:rPr lang="en-US" dirty="0"/>
              <a:t>, </a:t>
            </a:r>
            <a:r>
              <a:rPr lang="en-US" i="1" dirty="0"/>
              <a:t>Composite</a:t>
            </a:r>
            <a:r>
              <a:rPr lang="en-US" dirty="0"/>
              <a:t>, </a:t>
            </a:r>
            <a:r>
              <a:rPr lang="en-US" i="1" dirty="0"/>
              <a:t>Decorator</a:t>
            </a:r>
            <a:r>
              <a:rPr lang="en-US" dirty="0"/>
              <a:t>, </a:t>
            </a:r>
            <a:r>
              <a:rPr lang="en-US" i="1" dirty="0"/>
              <a:t>Facade</a:t>
            </a:r>
            <a:r>
              <a:rPr lang="en-US" dirty="0"/>
              <a:t>, </a:t>
            </a:r>
            <a:r>
              <a:rPr lang="en-US" i="1" dirty="0"/>
              <a:t>Flyweight</a:t>
            </a:r>
            <a:r>
              <a:rPr lang="en-US" dirty="0"/>
              <a:t>, </a:t>
            </a:r>
            <a:r>
              <a:rPr lang="en-US" i="1" dirty="0"/>
              <a:t>Proxy</a:t>
            </a:r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8768DCB-F565-5ED3-AE8C-25878A329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6552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51306-C4E6-F87B-A969-070D3F927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960D510-27FD-CD22-AC1F-F6CB7FBEF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B9375D-28C8-5D40-7D59-4DF525FB59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963" y="2132554"/>
            <a:ext cx="7629525" cy="381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772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41069-F03B-B33A-FC20-B638B6633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C831E-FD98-6298-CF0A-26E0A5EDD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/>
          <a:lstStyle/>
          <a:p>
            <a:r>
              <a:rPr lang="en-US" dirty="0"/>
              <a:t>Behavioral Patterns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569987-6E6C-47E0-6CB4-0BCBDF8376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/>
          <a:p>
            <a:pPr lvl="1"/>
            <a:r>
              <a:rPr lang="en-US" dirty="0"/>
              <a:t>Focus on communication between objects, defining how they interact and share responsibilities.</a:t>
            </a:r>
          </a:p>
          <a:p>
            <a:pPr lvl="1"/>
            <a:r>
              <a:rPr lang="en-US" dirty="0"/>
              <a:t>Examples: </a:t>
            </a:r>
            <a:r>
              <a:rPr lang="en-US" i="1" dirty="0"/>
              <a:t>Observer</a:t>
            </a:r>
            <a:r>
              <a:rPr lang="en-US" dirty="0"/>
              <a:t>, </a:t>
            </a:r>
            <a:r>
              <a:rPr lang="en-US" i="1" dirty="0"/>
              <a:t>Strategy</a:t>
            </a:r>
            <a:r>
              <a:rPr lang="en-US" dirty="0"/>
              <a:t>, </a:t>
            </a:r>
            <a:r>
              <a:rPr lang="en-US" i="1" dirty="0"/>
              <a:t>Command</a:t>
            </a:r>
            <a:r>
              <a:rPr lang="en-US" dirty="0"/>
              <a:t>, </a:t>
            </a:r>
            <a:r>
              <a:rPr lang="en-US" i="1" dirty="0"/>
              <a:t>Iterator</a:t>
            </a:r>
            <a:r>
              <a:rPr lang="en-US" dirty="0"/>
              <a:t>, </a:t>
            </a:r>
            <a:r>
              <a:rPr lang="en-US" i="1" dirty="0"/>
              <a:t>State</a:t>
            </a:r>
            <a:r>
              <a:rPr lang="en-US" dirty="0"/>
              <a:t>, </a:t>
            </a:r>
            <a:r>
              <a:rPr lang="en-US" i="1" dirty="0"/>
              <a:t>Template Method</a:t>
            </a:r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F1BA2D8-E080-5A49-C3AB-20882B921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715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28F69-52C9-04CC-1642-303EC8A6B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6FFA2845-9E86-AFC6-E836-A9280AA61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93A1B2-3B3D-0896-1F25-F7DD2F8C34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61" y="1377523"/>
            <a:ext cx="9534525" cy="477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4285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98EA3-DE9F-335E-FCA6-AE74F5A0E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A3D73-7CA4-9170-4CCB-BE2047484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/>
          <a:lstStyle/>
          <a:p>
            <a:r>
              <a:rPr lang="en-US" dirty="0"/>
              <a:t>Design pattern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CDD9D3-229F-7DFA-9613-891FD8E524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/>
          <a:p>
            <a:pPr lvl="1"/>
            <a:r>
              <a:rPr lang="en-US" dirty="0"/>
              <a:t>Most design use either </a:t>
            </a:r>
          </a:p>
          <a:p>
            <a:pPr lvl="2"/>
            <a:r>
              <a:rPr lang="en-US" dirty="0"/>
              <a:t>Abstract Class</a:t>
            </a:r>
          </a:p>
          <a:p>
            <a:pPr lvl="2"/>
            <a:r>
              <a:rPr lang="en-US" dirty="0"/>
              <a:t>Interface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86A4C20B-F58E-A70B-5BFF-B2BB2694D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9369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DC17F-357D-2F34-EDEB-1CC8E3795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68A7E-5EF5-7470-B067-93FDD2B58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/>
          <a:lstStyle/>
          <a:p>
            <a:r>
              <a:rPr lang="en-US" dirty="0"/>
              <a:t>Abstract class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631877-481F-CC00-0F79-4F0EE22CBC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/>
          <a:p>
            <a:pPr lvl="1"/>
            <a:r>
              <a:rPr lang="en-US" dirty="0"/>
              <a:t>Abstract classes are a common feature in many object-oriented programming languages, allowing developers to define templates for subclasses that enforce certain methods without providing full implementations</a:t>
            </a:r>
          </a:p>
          <a:p>
            <a:pPr lvl="1"/>
            <a:r>
              <a:rPr lang="en-US" dirty="0"/>
              <a:t>Some popular programming language that supports abstract class – Java, C++, C#, Python, PHP, Swift, Ruby, Typescript.</a:t>
            </a:r>
          </a:p>
          <a:p>
            <a:pPr marL="0" lvl="1" indent="0">
              <a:buNone/>
            </a:pPr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7A52F5D-023E-2E12-DAA8-2FDAC0067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7279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B69AB-7DD9-35C4-117E-F85FA1B15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214BF-7189-EA7C-FF8D-DB302673B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/>
          <a:lstStyle/>
          <a:p>
            <a:r>
              <a:rPr lang="en-US" dirty="0"/>
              <a:t>Abstract class example (JAVA)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0C1A42-31DF-35D3-BF12-EE5968CED7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/>
          <a:p>
            <a:pPr marL="0" lvl="1" indent="0">
              <a:buNone/>
            </a:pPr>
            <a:r>
              <a:rPr lang="en-US" dirty="0"/>
              <a:t>public abstract class Animal { </a:t>
            </a:r>
          </a:p>
          <a:p>
            <a:pPr marL="0" lvl="1" indent="0">
              <a:buNone/>
            </a:pPr>
            <a:r>
              <a:rPr lang="en-US" dirty="0"/>
              <a:t>public abstract void sound();</a:t>
            </a:r>
          </a:p>
          <a:p>
            <a:pPr marL="0" lvl="1" indent="0">
              <a:buNone/>
            </a:pPr>
            <a:r>
              <a:rPr lang="en-US" dirty="0"/>
              <a:t>}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28142AFD-F3AE-1D2E-2BBB-4440E42DC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2116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85908-C2BC-88FC-4827-D298E9B76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EE4B9-698D-2BB6-5F27-60A610CA9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/>
          <a:lstStyle/>
          <a:p>
            <a:r>
              <a:rPr lang="en-US" dirty="0"/>
              <a:t>Abstract class example (C++)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55D566-F6DC-73B8-6AC8-3103710A7D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/>
          <a:p>
            <a:pPr marL="0" lvl="1" indent="0">
              <a:buNone/>
            </a:pPr>
            <a:r>
              <a:rPr lang="en-US" dirty="0"/>
              <a:t>class Shape </a:t>
            </a:r>
          </a:p>
          <a:p>
            <a:pPr marL="0" lvl="1" indent="0">
              <a:buNone/>
            </a:pPr>
            <a:r>
              <a:rPr lang="en-US" dirty="0"/>
              <a:t>{ </a:t>
            </a:r>
          </a:p>
          <a:p>
            <a:pPr marL="0" lvl="1" indent="0">
              <a:buNone/>
            </a:pPr>
            <a:r>
              <a:rPr lang="en-US" dirty="0"/>
              <a:t>public: virtual void draw() = 0; // Pure virtual function </a:t>
            </a:r>
          </a:p>
          <a:p>
            <a:pPr marL="0" lvl="1" indent="0">
              <a:buNone/>
            </a:pPr>
            <a:r>
              <a:rPr lang="en-US" dirty="0"/>
              <a:t>};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5E2DBBA-E35D-B6A6-C553-AC6D5BAFB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54476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45D21-0948-A7C6-16AE-59AEB450B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AB098-7C4D-A017-B2CC-DF3876DB4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/>
          <a:lstStyle/>
          <a:p>
            <a:r>
              <a:rPr lang="en-US" dirty="0"/>
              <a:t>interface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B45A62-6893-F2D2-7AE6-D36EFFF1B5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/>
          <a:p>
            <a:pPr lvl="1"/>
            <a:r>
              <a:rPr lang="en-US" dirty="0"/>
              <a:t>In many object-oriented programming languages, an interface is a construct that defines a contract for classes without providing any implementation</a:t>
            </a:r>
          </a:p>
          <a:p>
            <a:pPr lvl="1"/>
            <a:r>
              <a:rPr lang="en-US" dirty="0"/>
              <a:t>An interface specifies a set of methods that implementing classes must define. </a:t>
            </a:r>
          </a:p>
          <a:p>
            <a:pPr lvl="1"/>
            <a:r>
              <a:rPr lang="en-US" dirty="0"/>
              <a:t>Unlike abstract classes, interfaces generally cannot hold any state (like instance variables) and typically don’t contain any method implementations (though modern languages may allow default methods in interfaces).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FCE36DB-C3EB-45BB-B816-5D2F21A00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68804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6D20B-6EF2-DC0D-E537-C6EEA7F95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30EBC-C711-0550-41DB-3994E9A58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/>
          <a:lstStyle/>
          <a:p>
            <a:r>
              <a:rPr lang="en-US" dirty="0"/>
              <a:t>Interface example (JAVA)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E81E31-06A2-D9CB-8213-8FFE0746AB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/>
          <a:p>
            <a:pPr marL="0" lvl="1" indent="0">
              <a:buNone/>
            </a:pPr>
            <a:r>
              <a:rPr lang="en-US" dirty="0"/>
              <a:t>public interface Animal { </a:t>
            </a:r>
          </a:p>
          <a:p>
            <a:pPr marL="0" lvl="1" indent="0">
              <a:buNone/>
            </a:pPr>
            <a:r>
              <a:rPr lang="en-US" dirty="0"/>
              <a:t>void sound(); </a:t>
            </a:r>
          </a:p>
          <a:p>
            <a:pPr marL="0" lvl="1" indent="0">
              <a:buNone/>
            </a:pPr>
            <a:r>
              <a:rPr lang="en-US" dirty="0"/>
              <a:t>void sleep(); </a:t>
            </a:r>
          </a:p>
          <a:p>
            <a:pPr marL="0" lvl="1" indent="0">
              <a:buNone/>
            </a:pPr>
            <a:r>
              <a:rPr lang="en-US" dirty="0"/>
              <a:t>}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2F4810D-C0DC-2F19-8C10-1028835A0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3021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CEF6B-C4E0-A361-0BED-8E6FE292A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A83BA-658F-154D-78C9-97A67499C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/>
          <a:lstStyle/>
          <a:p>
            <a:r>
              <a:rPr lang="en-US" dirty="0"/>
              <a:t>Example of implementation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44FC448-7F7B-9454-04D5-1811D58A6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EC070C-A74F-AB57-9DF6-AE3E38F4C3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2318" y="2813049"/>
            <a:ext cx="5334000" cy="354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4680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E8BAD-7CAD-842C-0606-5408DDDEC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1"/>
            <a:ext cx="7288282" cy="701796"/>
          </a:xfrm>
        </p:spPr>
        <p:txBody>
          <a:bodyPr/>
          <a:lstStyle/>
          <a:p>
            <a:r>
              <a:rPr lang="en-US" dirty="0"/>
              <a:t>Declaring the abstract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27AD3-6B07-E2D7-C4CF-87CFD7C0E5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33900" y="1146151"/>
            <a:ext cx="7288212" cy="3407051"/>
          </a:xfrm>
        </p:spPr>
        <p:txBody>
          <a:bodyPr>
            <a:noAutofit/>
          </a:bodyPr>
          <a:lstStyle/>
          <a:p>
            <a:r>
              <a:rPr lang="en-US" sz="1200" dirty="0"/>
              <a:t>public abstract class Game {</a:t>
            </a:r>
          </a:p>
          <a:p>
            <a:r>
              <a:rPr lang="en-US" sz="1200" dirty="0"/>
              <a:t>   abstract void initialize();</a:t>
            </a:r>
          </a:p>
          <a:p>
            <a:r>
              <a:rPr lang="en-US" sz="1200" dirty="0"/>
              <a:t>   abstract void </a:t>
            </a:r>
            <a:r>
              <a:rPr lang="en-US" sz="1200" dirty="0" err="1"/>
              <a:t>startPlay</a:t>
            </a:r>
            <a:r>
              <a:rPr lang="en-US" sz="1200" dirty="0"/>
              <a:t>();</a:t>
            </a:r>
          </a:p>
          <a:p>
            <a:r>
              <a:rPr lang="en-US" sz="1200" dirty="0"/>
              <a:t>   abstract void </a:t>
            </a:r>
            <a:r>
              <a:rPr lang="en-US" sz="1200" dirty="0" err="1"/>
              <a:t>endPlay</a:t>
            </a:r>
            <a:r>
              <a:rPr lang="en-US" sz="1200" dirty="0"/>
              <a:t>();</a:t>
            </a:r>
          </a:p>
          <a:p>
            <a:endParaRPr lang="en-US" sz="1200" dirty="0"/>
          </a:p>
          <a:p>
            <a:r>
              <a:rPr lang="en-US" sz="1200" dirty="0"/>
              <a:t>   //template method</a:t>
            </a:r>
          </a:p>
          <a:p>
            <a:r>
              <a:rPr lang="en-US" sz="1200" dirty="0"/>
              <a:t>   public final void play(){</a:t>
            </a:r>
          </a:p>
          <a:p>
            <a:endParaRPr lang="en-US" sz="1200" dirty="0"/>
          </a:p>
          <a:p>
            <a:r>
              <a:rPr lang="en-US" sz="1200" dirty="0"/>
              <a:t>      //initialize the game</a:t>
            </a:r>
          </a:p>
          <a:p>
            <a:r>
              <a:rPr lang="en-US" sz="1200" dirty="0"/>
              <a:t>      initialize();</a:t>
            </a:r>
          </a:p>
          <a:p>
            <a:endParaRPr lang="en-US" sz="1200" dirty="0"/>
          </a:p>
          <a:p>
            <a:r>
              <a:rPr lang="en-US" sz="1200" dirty="0"/>
              <a:t>      //start game</a:t>
            </a:r>
          </a:p>
          <a:p>
            <a:r>
              <a:rPr lang="en-US" sz="1200" dirty="0"/>
              <a:t>      </a:t>
            </a:r>
            <a:r>
              <a:rPr lang="en-US" sz="1200" dirty="0" err="1"/>
              <a:t>startPlay</a:t>
            </a:r>
            <a:r>
              <a:rPr lang="en-US" sz="1200" dirty="0"/>
              <a:t>();</a:t>
            </a:r>
          </a:p>
          <a:p>
            <a:endParaRPr lang="en-US" sz="1200" dirty="0"/>
          </a:p>
          <a:p>
            <a:r>
              <a:rPr lang="en-US" sz="1200" dirty="0"/>
              <a:t>      //end game</a:t>
            </a:r>
          </a:p>
          <a:p>
            <a:r>
              <a:rPr lang="en-US" sz="1200" dirty="0"/>
              <a:t>      </a:t>
            </a:r>
            <a:r>
              <a:rPr lang="en-US" sz="1200" dirty="0" err="1"/>
              <a:t>endPlay</a:t>
            </a:r>
            <a:r>
              <a:rPr lang="en-US" sz="1200" dirty="0"/>
              <a:t>();</a:t>
            </a:r>
          </a:p>
          <a:p>
            <a:r>
              <a:rPr lang="en-US" sz="1200" dirty="0"/>
              <a:t>   }</a:t>
            </a:r>
          </a:p>
          <a:p>
            <a:r>
              <a:rPr lang="en-US" sz="1200" dirty="0"/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E49BF0-DE3B-9E8B-1257-6B94D7566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54688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0A8E0-9ECD-A04E-1E39-B6ED3DEA3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7C6F3-CB1A-18D7-4672-2BCB84F21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1"/>
            <a:ext cx="7288282" cy="701796"/>
          </a:xfrm>
        </p:spPr>
        <p:txBody>
          <a:bodyPr/>
          <a:lstStyle/>
          <a:p>
            <a:r>
              <a:rPr lang="en-US" dirty="0"/>
              <a:t>Declaring the concrete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89DB4-2B4D-50CF-F1F6-017EB44ADB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33900" y="1146151"/>
            <a:ext cx="7288212" cy="3407051"/>
          </a:xfrm>
        </p:spPr>
        <p:txBody>
          <a:bodyPr>
            <a:noAutofit/>
          </a:bodyPr>
          <a:lstStyle/>
          <a:p>
            <a:r>
              <a:rPr lang="en-US" sz="1200" dirty="0"/>
              <a:t>public class Cricket extends Game {</a:t>
            </a:r>
          </a:p>
          <a:p>
            <a:endParaRPr lang="en-US" sz="1200" dirty="0"/>
          </a:p>
          <a:p>
            <a:r>
              <a:rPr lang="en-US" sz="1200" dirty="0"/>
              <a:t>   @Override</a:t>
            </a:r>
          </a:p>
          <a:p>
            <a:r>
              <a:rPr lang="en-US" sz="1200" dirty="0"/>
              <a:t>   void </a:t>
            </a:r>
            <a:r>
              <a:rPr lang="en-US" sz="1200" dirty="0" err="1"/>
              <a:t>endPlay</a:t>
            </a:r>
            <a:r>
              <a:rPr lang="en-US" sz="1200" dirty="0"/>
              <a:t>() {</a:t>
            </a:r>
          </a:p>
          <a:p>
            <a:r>
              <a:rPr lang="en-US" sz="1200" dirty="0"/>
              <a:t>      </a:t>
            </a:r>
            <a:r>
              <a:rPr lang="en-US" sz="1200" dirty="0" err="1"/>
              <a:t>System.out.println</a:t>
            </a:r>
            <a:r>
              <a:rPr lang="en-US" sz="1200" dirty="0"/>
              <a:t>("Cricket Game Finished!");</a:t>
            </a:r>
          </a:p>
          <a:p>
            <a:r>
              <a:rPr lang="en-US" sz="1200" dirty="0"/>
              <a:t>   }</a:t>
            </a:r>
          </a:p>
          <a:p>
            <a:endParaRPr lang="en-US" sz="1200" dirty="0"/>
          </a:p>
          <a:p>
            <a:r>
              <a:rPr lang="en-US" sz="1200" dirty="0"/>
              <a:t>   @Override</a:t>
            </a:r>
          </a:p>
          <a:p>
            <a:r>
              <a:rPr lang="en-US" sz="1200" dirty="0"/>
              <a:t>   void initialize() {</a:t>
            </a:r>
          </a:p>
          <a:p>
            <a:r>
              <a:rPr lang="en-US" sz="1200" dirty="0"/>
              <a:t>      </a:t>
            </a:r>
            <a:r>
              <a:rPr lang="en-US" sz="1200" dirty="0" err="1"/>
              <a:t>System.out.println</a:t>
            </a:r>
            <a:r>
              <a:rPr lang="en-US" sz="1200" dirty="0"/>
              <a:t>("Cricket Game Initialized! Start playing.");</a:t>
            </a:r>
          </a:p>
          <a:p>
            <a:r>
              <a:rPr lang="en-US" sz="1200" dirty="0"/>
              <a:t>   }</a:t>
            </a:r>
          </a:p>
          <a:p>
            <a:endParaRPr lang="en-US" sz="1200" dirty="0"/>
          </a:p>
          <a:p>
            <a:r>
              <a:rPr lang="en-US" sz="1200" dirty="0"/>
              <a:t>   @Override</a:t>
            </a:r>
          </a:p>
          <a:p>
            <a:r>
              <a:rPr lang="en-US" sz="1200" dirty="0"/>
              <a:t>   void </a:t>
            </a:r>
            <a:r>
              <a:rPr lang="en-US" sz="1200" dirty="0" err="1"/>
              <a:t>startPlay</a:t>
            </a:r>
            <a:r>
              <a:rPr lang="en-US" sz="1200" dirty="0"/>
              <a:t>() {</a:t>
            </a:r>
          </a:p>
          <a:p>
            <a:r>
              <a:rPr lang="en-US" sz="1200" dirty="0"/>
              <a:t>      </a:t>
            </a:r>
            <a:r>
              <a:rPr lang="en-US" sz="1200" dirty="0" err="1"/>
              <a:t>System.out.println</a:t>
            </a:r>
            <a:r>
              <a:rPr lang="en-US" sz="1200" dirty="0"/>
              <a:t>("Cricket Game Started. Enjoy the game!");</a:t>
            </a:r>
          </a:p>
          <a:p>
            <a:r>
              <a:rPr lang="en-US" sz="1200" dirty="0"/>
              <a:t>   }</a:t>
            </a:r>
          </a:p>
          <a:p>
            <a:r>
              <a:rPr lang="en-US" sz="1200" dirty="0"/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79762B-ED55-37B0-8716-18B0AEA29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24797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58486-5C47-3695-763E-EC83FCF21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50819-E9E6-F6C3-D343-35F890707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1"/>
            <a:ext cx="7288282" cy="701796"/>
          </a:xfrm>
        </p:spPr>
        <p:txBody>
          <a:bodyPr>
            <a:normAutofit fontScale="90000"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Use the </a:t>
            </a:r>
            <a:r>
              <a:rPr lang="en-US" b="0" i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Game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's template method play() 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2CDA8-E8AE-0840-53EF-044032D5E9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33900" y="1146151"/>
            <a:ext cx="7288212" cy="3407051"/>
          </a:xfrm>
        </p:spPr>
        <p:txBody>
          <a:bodyPr>
            <a:noAutofit/>
          </a:bodyPr>
          <a:lstStyle/>
          <a:p>
            <a:r>
              <a:rPr lang="en-US" sz="1200" dirty="0"/>
              <a:t>public class </a:t>
            </a:r>
            <a:r>
              <a:rPr lang="en-US" sz="1200" dirty="0" err="1"/>
              <a:t>TemplatePatternDemo</a:t>
            </a:r>
            <a:r>
              <a:rPr lang="en-US" sz="1200" dirty="0"/>
              <a:t> {</a:t>
            </a:r>
          </a:p>
          <a:p>
            <a:r>
              <a:rPr lang="en-US" sz="1200" dirty="0"/>
              <a:t>   public static void main(String[] </a:t>
            </a:r>
            <a:r>
              <a:rPr lang="en-US" sz="1200" dirty="0" err="1"/>
              <a:t>args</a:t>
            </a:r>
            <a:r>
              <a:rPr lang="en-US" sz="1200" dirty="0"/>
              <a:t>) {</a:t>
            </a:r>
          </a:p>
          <a:p>
            <a:endParaRPr lang="en-US" sz="1200" dirty="0"/>
          </a:p>
          <a:p>
            <a:r>
              <a:rPr lang="en-US" sz="1200" dirty="0"/>
              <a:t>      Game </a:t>
            </a:r>
            <a:r>
              <a:rPr lang="en-US" sz="1200" dirty="0" err="1"/>
              <a:t>game</a:t>
            </a:r>
            <a:r>
              <a:rPr lang="en-US" sz="1200" dirty="0"/>
              <a:t> = new Cricket();</a:t>
            </a:r>
          </a:p>
          <a:p>
            <a:r>
              <a:rPr lang="en-US" sz="1200" dirty="0"/>
              <a:t>      </a:t>
            </a:r>
            <a:r>
              <a:rPr lang="en-US" sz="1200" dirty="0" err="1"/>
              <a:t>game.play</a:t>
            </a:r>
            <a:r>
              <a:rPr lang="en-US" sz="1200"/>
              <a:t>();</a:t>
            </a:r>
            <a:r>
              <a:rPr lang="en-US" sz="1200" dirty="0"/>
              <a:t>		</a:t>
            </a:r>
          </a:p>
          <a:p>
            <a:r>
              <a:rPr lang="en-US" sz="1200" dirty="0"/>
              <a:t>   }</a:t>
            </a:r>
          </a:p>
          <a:p>
            <a:r>
              <a:rPr lang="en-US" sz="1200" dirty="0"/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FA5446-614F-4382-BF4C-FF34E04BC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087723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{6994F21C-D237-4F28-9B4D-15BD9342B43D}tf67328976_win32</Template>
  <TotalTime>44</TotalTime>
  <Words>654</Words>
  <Application>Microsoft Office PowerPoint</Application>
  <PresentationFormat>Widescreen</PresentationFormat>
  <Paragraphs>128</Paragraphs>
  <Slides>21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Tenorite</vt:lpstr>
      <vt:lpstr>Verdana</vt:lpstr>
      <vt:lpstr>Custom</vt:lpstr>
      <vt:lpstr>Design pattern</vt:lpstr>
      <vt:lpstr>Design pattern</vt:lpstr>
      <vt:lpstr>Design pattern examples</vt:lpstr>
      <vt:lpstr>Design pattern examples</vt:lpstr>
      <vt:lpstr>History of Design pattern</vt:lpstr>
      <vt:lpstr>Creational Patterns</vt:lpstr>
      <vt:lpstr>PowerPoint Presentation</vt:lpstr>
      <vt:lpstr>Structural Patterns</vt:lpstr>
      <vt:lpstr>PowerPoint Presentation</vt:lpstr>
      <vt:lpstr>Behavioral Patterns</vt:lpstr>
      <vt:lpstr>PowerPoint Presentation</vt:lpstr>
      <vt:lpstr>Design pattern</vt:lpstr>
      <vt:lpstr>Abstract class</vt:lpstr>
      <vt:lpstr>Abstract class example (JAVA)</vt:lpstr>
      <vt:lpstr>Abstract class example (C++)</vt:lpstr>
      <vt:lpstr>interface</vt:lpstr>
      <vt:lpstr>Interface example (JAVA)</vt:lpstr>
      <vt:lpstr>Example of implementation</vt:lpstr>
      <vt:lpstr>Declaring the abstract class</vt:lpstr>
      <vt:lpstr>Declaring the concrete class</vt:lpstr>
      <vt:lpstr>Use the Game's template method play()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Shahriman Mohd Said</dc:creator>
  <cp:lastModifiedBy>Shahriman Mohd Said</cp:lastModifiedBy>
  <cp:revision>5</cp:revision>
  <dcterms:created xsi:type="dcterms:W3CDTF">2024-10-29T00:55:09Z</dcterms:created>
  <dcterms:modified xsi:type="dcterms:W3CDTF">2024-10-29T01:39:56Z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